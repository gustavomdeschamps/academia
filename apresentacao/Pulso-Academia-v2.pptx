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2a82372dc34982" /><Relationship Type="http://schemas.openxmlformats.org/officeDocument/2006/relationships/extended-properties" Target="/docProps/app.xml" Id="Rf2770051c9bc4cda" /><Relationship Type="http://schemas.openxmlformats.org/officeDocument/2006/relationships/officeDocument" Target="/ppt/presentation.xml" Id="R7b1f356fa15d49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9252a711464f9f"/>
  </p:sldMasterIdLst>
  <p:notesMasterIdLst>
    <p:notesMasterId xmlns:r="http://schemas.openxmlformats.org/officeDocument/2006/relationships" r:id="R99535b7a66df45cf"/>
  </p:notesMasterIdLst>
  <p:sldIdLst>
    <p:sldId xmlns:r="http://schemas.openxmlformats.org/officeDocument/2006/relationships" id="256" r:id="R195a445007cc464a"/>
    <p:sldId xmlns:r="http://schemas.openxmlformats.org/officeDocument/2006/relationships" id="257" r:id="Rdb45fa8d4abe42ff"/>
    <p:sldId xmlns:r="http://schemas.openxmlformats.org/officeDocument/2006/relationships" id="258" r:id="R8f0cb3708fbf433e"/>
    <p:sldId xmlns:r="http://schemas.openxmlformats.org/officeDocument/2006/relationships" id="259" r:id="R16890b82b0dc4b38"/>
    <p:sldId xmlns:r="http://schemas.openxmlformats.org/officeDocument/2006/relationships" id="260" r:id="Rd77c7fc97d6b49c4"/>
    <p:sldId xmlns:r="http://schemas.openxmlformats.org/officeDocument/2006/relationships" id="261" r:id="Rb4e5286a2ddb49c9"/>
    <p:sldId xmlns:r="http://schemas.openxmlformats.org/officeDocument/2006/relationships" id="262" r:id="R5ac2125890c243ab"/>
    <p:sldId xmlns:r="http://schemas.openxmlformats.org/officeDocument/2006/relationships" id="263" r:id="R4829214317b64f3b"/>
    <p:sldId xmlns:r="http://schemas.openxmlformats.org/officeDocument/2006/relationships" id="264" r:id="R10e1e21faafe46a6"/>
    <p:sldId xmlns:r="http://schemas.openxmlformats.org/officeDocument/2006/relationships" id="265" r:id="R349e59125e724aa4"/>
    <p:sldId xmlns:r="http://schemas.openxmlformats.org/officeDocument/2006/relationships" id="266" r:id="R5e0254a7c3614542"/>
    <p:sldId xmlns:r="http://schemas.openxmlformats.org/officeDocument/2006/relationships" id="267" r:id="Rcd4f4caffd5e4638"/>
    <p:sldId xmlns:r="http://schemas.openxmlformats.org/officeDocument/2006/relationships" id="268" r:id="R5377abb9e66242b9"/>
    <p:sldId xmlns:r="http://schemas.openxmlformats.org/officeDocument/2006/relationships" id="269" r:id="R5c77c780e19145b0"/>
    <p:sldId xmlns:r="http://schemas.openxmlformats.org/officeDocument/2006/relationships" id="270" r:id="R1d930597b56e4689"/>
    <p:sldId xmlns:r="http://schemas.openxmlformats.org/officeDocument/2006/relationships" id="271" r:id="R72aef3c0dd9c4123"/>
    <p:sldId xmlns:r="http://schemas.openxmlformats.org/officeDocument/2006/relationships" id="272" r:id="R7899bbb20417423b"/>
    <p:sldId xmlns:r="http://schemas.openxmlformats.org/officeDocument/2006/relationships" id="273" r:id="R6b5c296d374841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f6b85682354411" /><Relationship Type="http://schemas.openxmlformats.org/officeDocument/2006/relationships/slideMaster" Target="/ppt/slideMasters/slideMaster1.xml" Id="Re89252a711464f9f" /><Relationship Type="http://schemas.openxmlformats.org/officeDocument/2006/relationships/notesMaster" Target="/ppt/notesMasters/notesMaster1.xml" Id="R99535b7a66df45cf" /><Relationship Type="http://schemas.openxmlformats.org/officeDocument/2006/relationships/presProps" Target="/ppt/presProps.xml" Id="Rab3edb04a9024ccb" /><Relationship Type="http://schemas.openxmlformats.org/officeDocument/2006/relationships/tableStyles" Target="/ppt/tableStyles.xml" Id="R3e93d121123d4bbc" /><Relationship Type="http://schemas.openxmlformats.org/officeDocument/2006/relationships/slide" Target="/ppt/slides/slide1.xml" Id="R195a445007cc464a" /><Relationship Type="http://schemas.openxmlformats.org/officeDocument/2006/relationships/slide" Target="/ppt/slides/slide2.xml" Id="Rdb45fa8d4abe42ff" /><Relationship Type="http://schemas.openxmlformats.org/officeDocument/2006/relationships/slide" Target="/ppt/slides/slide3.xml" Id="R8f0cb3708fbf433e" /><Relationship Type="http://schemas.openxmlformats.org/officeDocument/2006/relationships/slide" Target="/ppt/slides/slide4.xml" Id="R16890b82b0dc4b38" /><Relationship Type="http://schemas.openxmlformats.org/officeDocument/2006/relationships/slide" Target="/ppt/slides/slide5.xml" Id="Rd77c7fc97d6b49c4" /><Relationship Type="http://schemas.openxmlformats.org/officeDocument/2006/relationships/slide" Target="/ppt/slides/slide6.xml" Id="Rb4e5286a2ddb49c9" /><Relationship Type="http://schemas.openxmlformats.org/officeDocument/2006/relationships/slide" Target="/ppt/slides/slide7.xml" Id="R5ac2125890c243ab" /><Relationship Type="http://schemas.openxmlformats.org/officeDocument/2006/relationships/slide" Target="/ppt/slides/slide8.xml" Id="R4829214317b64f3b" /><Relationship Type="http://schemas.openxmlformats.org/officeDocument/2006/relationships/slide" Target="/ppt/slides/slide9.xml" Id="R10e1e21faafe46a6" /><Relationship Type="http://schemas.openxmlformats.org/officeDocument/2006/relationships/slide" Target="/ppt/slides/slide10.xml" Id="R349e59125e724aa4" /><Relationship Type="http://schemas.openxmlformats.org/officeDocument/2006/relationships/slide" Target="/ppt/slides/slide11.xml" Id="R5e0254a7c3614542" /><Relationship Type="http://schemas.openxmlformats.org/officeDocument/2006/relationships/slide" Target="/ppt/slides/slide12.xml" Id="Rcd4f4caffd5e4638" /><Relationship Type="http://schemas.openxmlformats.org/officeDocument/2006/relationships/slide" Target="/ppt/slides/slide13.xml" Id="R5377abb9e66242b9" /><Relationship Type="http://schemas.openxmlformats.org/officeDocument/2006/relationships/slide" Target="/ppt/slides/slide14.xml" Id="R5c77c780e19145b0" /><Relationship Type="http://schemas.openxmlformats.org/officeDocument/2006/relationships/slide" Target="/ppt/slides/slide15.xml" Id="R1d930597b56e4689" /><Relationship Type="http://schemas.openxmlformats.org/officeDocument/2006/relationships/slide" Target="/ppt/slides/slide16.xml" Id="R72aef3c0dd9c4123" /><Relationship Type="http://schemas.openxmlformats.org/officeDocument/2006/relationships/slide" Target="/ppt/slides/slide17.xml" Id="R7899bbb20417423b" /><Relationship Type="http://schemas.openxmlformats.org/officeDocument/2006/relationships/slide" Target="/ppt/slides/slide18.xml" Id="R6b5c296d374841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4afcf472314b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8a618073d04eb5" /><Relationship Type="http://schemas.openxmlformats.org/officeDocument/2006/relationships/notesMaster" Target="/ppt/notesMasters/notesMaster1.xml" Id="Rbf9f52c9863142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f236974e1f4554" /><Relationship Type="http://schemas.openxmlformats.org/officeDocument/2006/relationships/notesMaster" Target="/ppt/notesMasters/notesMaster1.xml" Id="Rfd618202d1644a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2d319c0d344100" /><Relationship Type="http://schemas.openxmlformats.org/officeDocument/2006/relationships/notesMaster" Target="/ppt/notesMasters/notesMaster1.xml" Id="Rf5c1784ca3ee4e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ef1cf6710f427c" /><Relationship Type="http://schemas.openxmlformats.org/officeDocument/2006/relationships/notesMaster" Target="/ppt/notesMasters/notesMaster1.xml" Id="R3d1bfa3a24e246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dba2697c1041d5" /><Relationship Type="http://schemas.openxmlformats.org/officeDocument/2006/relationships/notesMaster" Target="/ppt/notesMasters/notesMaster1.xml" Id="R1b09c9ff7a144a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02fbc43b7d4d01" /><Relationship Type="http://schemas.openxmlformats.org/officeDocument/2006/relationships/notesMaster" Target="/ppt/notesMasters/notesMaster1.xml" Id="R125d1c1e14b642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3a9c79b9f94bfb" /><Relationship Type="http://schemas.openxmlformats.org/officeDocument/2006/relationships/notesMaster" Target="/ppt/notesMasters/notesMaster1.xml" Id="R66643f4f166940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f5806570644eaf" /><Relationship Type="http://schemas.openxmlformats.org/officeDocument/2006/relationships/notesMaster" Target="/ppt/notesMasters/notesMaster1.xml" Id="R89756f5a4be44e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a04ff03bb443b8" /><Relationship Type="http://schemas.openxmlformats.org/officeDocument/2006/relationships/notesMaster" Target="/ppt/notesMasters/notesMaster1.xml" Id="R0cf8b298db9044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029d70b7544701" /><Relationship Type="http://schemas.openxmlformats.org/officeDocument/2006/relationships/notesMaster" Target="/ppt/notesMasters/notesMaster1.xml" Id="Rf2c172715b7f41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21fe047d6ba452e" /><Relationship Type="http://schemas.openxmlformats.org/officeDocument/2006/relationships/notesMaster" Target="/ppt/notesMasters/notesMaster1.xml" Id="Rad68433c5cf64c3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d96f01488c447f" /><Relationship Type="http://schemas.openxmlformats.org/officeDocument/2006/relationships/notesMaster" Target="/ppt/notesMasters/notesMaster1.xml" Id="R40a4cd94cde7485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538b49b142642b3" /><Relationship Type="http://schemas.openxmlformats.org/officeDocument/2006/relationships/notesMaster" Target="/ppt/notesMasters/notesMaster1.xml" Id="Rcb9dd07f3ef944f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36b823dd9164849" /><Relationship Type="http://schemas.openxmlformats.org/officeDocument/2006/relationships/notesMaster" Target="/ppt/notesMasters/notesMaster1.xml" Id="R25ce8a044307485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5afa562b8514916" /><Relationship Type="http://schemas.openxmlformats.org/officeDocument/2006/relationships/notesMaster" Target="/ppt/notesMasters/notesMaster1.xml" Id="Rff0994f00f5742c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b25234982c84d44" /><Relationship Type="http://schemas.openxmlformats.org/officeDocument/2006/relationships/notesMaster" Target="/ppt/notesMasters/notesMaster1.xml" Id="Rfd5f75e68e6a4f7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15f8e745e0b428b" /><Relationship Type="http://schemas.openxmlformats.org/officeDocument/2006/relationships/notesMaster" Target="/ppt/notesMasters/notesMaster1.xml" Id="R628232b0f300445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420605274bb4071" /><Relationship Type="http://schemas.openxmlformats.org/officeDocument/2006/relationships/notesMaster" Target="/ppt/notesMasters/notesMaster1.xml" Id="Rc61735840fa14b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Pulso, o cliente fictício e os nomes dos integrantes do Grupo 05. O sistema reúne o atendimento dos alunos e o controle dos materiais da academia.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cenário descreve informações descentralizadas. Explique com uma situação simples: a recepção precisa consultar o aluno e sua matrícula, enquanto a equipe acompanha os materiais. Não atribua estes problemas a uma academia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são regras adotadas para esta versão. O preço é o valor total do plano, não uma mensalidade recorrente. Trancamento altera a situação sem estender a validade. O administrador configura o sistema e a recepção realiza atendimentos.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o acesso com uma conta válida e explique que a senha é conferida por hash. Credenciais para a demonstração: admin / Admin@123 e recepcao / Recepcao@123. Mensagens de erro não identificam qual campo estava incorreto.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a diferença entre aluno ativo e matrícula ativa. Uma matrícula pode estar ativa e com pagamento pendente. Os números da imagem são registros fictícios de demonstração, não indicadores de uma academia real. O alerta aparece quando saldo é menor ou igual ao mínimo.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Demonstre a pesquisa e um cadastro. O serviço valida CPF, duplicidade, telefone e e-mail. Um aluno com matrícula aberta não pode ser inativado. Inativar preserva seus registros. Não existe botão para apagar o histórico do aluno.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modalidade representa a atividade, como musculação, funcional ou pilates. Esta tela não gerencia horários nem turmas. Um plano precisa apontar para uma modalidade existente. Mostre a relação com a tela seguinte.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Deixe claro que o valor é total para o período do plano. A alteração de um preço não modifica matrículas antigas. A aplicação usa BigDecimal e o banco usa DECIMAL para evitar arredondamentos de ponto flutuante.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Nova matrícula, Situação, Pagamento e Histórico. As situações são ATIVA, TRANCADA e CANCELADA. Cancelamento é definitivo. Uma nova contratação pode ser feita após cancelar. O sistema impede matrícula aberta duplicada e segundo pagamento do mesmo contrato. A data final é visível, mas não cancela automaticamente.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saldo do produto não é digitado na edição do cadastro. Um produto novo começa em zero. Toda alteração de saldo exige entrada ou saída, mantendo o histórico. O preço é uma referência de cadastro, não uma venda financeira completa.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Demonstre uma entrada, depois uma saída e uma tentativa acima do saldo. Não se pode editar ou apagar movimentos pela interface. Se houver erro operacional, registre uma movimentação compensatória com motivo claro. A atualização e o histórico são confirmados juntos.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a recepção não gerencia contas ou altera a configuração de planos. A validação de perfil também ocorre no serviço. O administrador não pode desativar a própria conta nem remover seu próprio perfil. Ao editar, senha em branco mantém a senha anterior.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banco tem nove tabelas. Todas têm id como chave primária. A tabela matriculas liga aluno e plano. Pagamentos permite zero ou um registro por matrícula. Historico_matriculas guarda várias alterações. Usuarios identifica o responsável pelas operações. Consulte database/schema.sql e docs/modelo-banco.md para chaves e atributos completos.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Java 17 ou superior. A máquina da demonstração tem JDK 23. Swing fornece a interface desktop. JDBC liga o código ao H2 2.3.232. IntelliJ é o ambiente de desenvolvimento. Explique o fluxo de um formulário até a consulta ao banco, usando o código de matrícula.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estes pontos como desafios técnicos da solução. Não invente uma história pessoal sobre dificuldades que o grupo não vivenciou. Estoque: UPDATE condicional e transação. Matrícula: bloqueio do aluno para evitar duplicidade simultânea. Histórico: preço copiado para o contrato. Senhas: PBKDF2, salt e validação de perfil.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Foram executadas 43 verificações automáticas, todas aprovadas. São testes de serviço e integração JDBC, não automação de todos os cliques da interface. Evidência: docs/resultados-testes.md e src/test/java/br/com/pulso/SystemTest.java. Os casos manuais de demonstração estão em docs/requisitos-e-testes.md.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o sistema. Entre como administrador. Cadastre Carla Mendes, CPF 12345678909, telefone (47) 99999-1234 e carla@example.com, se ela ainda não estiver cadastrada. Contrate um plano, registre um pagamento, altere a situação e consulte o histórico. Depois registre entrada e saída de uma faixa elástica e tente uma saída maior que o saldo. Reabra o sistema para mostrar a persistência.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versão é local. Reforce os limites: pagamento único por contratação, validade consultável sem cancelamento automático, sem catraca, emissão fiscal ou backup automático. Os próximos passos são propostas de evolução, não funcionalidades implementadas. Finalize e abra espaço para as perguntas. Todos os integrantes devem conhecer o fluxo geral.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e1047e9aaf473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f7cfef498f4d7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b5a3b008c9449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ec74c392d944a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cbc42dc7634ac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faf12444d24b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6A39AE-A115-4108-BAAD-208EAD7C30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AFA347A-CCDE-4231-A6F2-70BB46D01B3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8DD9C38-2E38-4308-9A21-B992B24FF3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0B1D5C-BFA0-4D9B-842D-ED092FEB1E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5330594-9BE9-4FDA-B8FB-4D48B6D039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6BE636F-4330-48B5-A32B-609EC5363F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439EA0-B6CE-4E3E-8C41-86A9E7EC09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B287C5B-7409-4242-8CF6-E5B23C6B600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004F8D-8693-4678-849E-BA7E90D3D0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621E598-DEB2-4792-881A-201411CBCA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1b160ae6f24db8" /><Relationship Type="http://schemas.openxmlformats.org/officeDocument/2006/relationships/slideLayout" Target="/ppt/slideLayouts/slideLayout1.xml" Id="R6489368aad1843c5" /><Relationship Type="http://schemas.openxmlformats.org/officeDocument/2006/relationships/slideLayout" Target="/ppt/slideLayouts/slideLayout2.xml" Id="R4e93c4878aac4a2b" /><Relationship Type="http://schemas.openxmlformats.org/officeDocument/2006/relationships/slideLayout" Target="/ppt/slideLayouts/slideLayout3.xml" Id="Ree8fb5c4785f4fba" /><Relationship Type="http://schemas.openxmlformats.org/officeDocument/2006/relationships/slideLayout" Target="/ppt/slideLayouts/slideLayout4.xml" Id="Rb80b835ae01341e7" /><Relationship Type="http://schemas.openxmlformats.org/officeDocument/2006/relationships/slideLayout" Target="/ppt/slideLayouts/slideLayout5.xml" Id="R234f7a0fe32341c5" /><Relationship Type="http://schemas.openxmlformats.org/officeDocument/2006/relationships/slideLayout" Target="/ppt/slideLayouts/slideLayout6.xml" Id="R9fc7c85c6ea842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89368aad1843c5"/>
    <p:sldLayoutId xmlns:r="http://schemas.openxmlformats.org/officeDocument/2006/relationships" id="2147483650" r:id="R4e93c4878aac4a2b"/>
    <p:sldLayoutId xmlns:r="http://schemas.openxmlformats.org/officeDocument/2006/relationships" id="2147483651" r:id="Ree8fb5c4785f4fba"/>
    <p:sldLayoutId xmlns:r="http://schemas.openxmlformats.org/officeDocument/2006/relationships" id="2147483652" r:id="Rb80b835ae01341e7"/>
    <p:sldLayoutId xmlns:r="http://schemas.openxmlformats.org/officeDocument/2006/relationships" id="2147483653" r:id="R234f7a0fe32341c5"/>
    <p:sldLayoutId xmlns:r="http://schemas.openxmlformats.org/officeDocument/2006/relationships" id="2147483654" r:id="R9fc7c85c6ea842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5beb6a53444e60" /><Relationship Type="http://schemas.openxmlformats.org/officeDocument/2006/relationships/image" Target="/ppt/media/image.png" Id="Rf6659bd1cab14ba3" /><Relationship Type="http://schemas.openxmlformats.org/officeDocument/2006/relationships/image" Target="/ppt/media/image2.png" Id="R77ed205bd5e440e8" /><Relationship Type="http://schemas.openxmlformats.org/officeDocument/2006/relationships/notesSlide" Target="/ppt/notesSlides/notesSlide1.xml" Id="R381c35cd29f14d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9c5aebd60e44af" /><Relationship Type="http://schemas.openxmlformats.org/officeDocument/2006/relationships/notesSlide" Target="/ppt/notesSlides/notesSlide2.xml" Id="R1a910ee3511a44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5da00b2c1c410f" /><Relationship Type="http://schemas.openxmlformats.org/officeDocument/2006/relationships/notesSlide" Target="/ppt/notesSlides/notesSlide3.xml" Id="Raada13c82ec848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ee954246b34c2f" /><Relationship Type="http://schemas.openxmlformats.org/officeDocument/2006/relationships/image" Target="/ppt/media/image3.png" Id="Rf2cd2ca143004a41" /><Relationship Type="http://schemas.openxmlformats.org/officeDocument/2006/relationships/notesSlide" Target="/ppt/notesSlides/notesSlide4.xml" Id="Ra0eddbf7e81c4d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5ec1e6a8bb4e89" /><Relationship Type="http://schemas.openxmlformats.org/officeDocument/2006/relationships/image" Target="/ppt/media/image4.png" Id="R87c42efdf43e466b" /><Relationship Type="http://schemas.openxmlformats.org/officeDocument/2006/relationships/notesSlide" Target="/ppt/notesSlides/notesSlide5.xml" Id="R852f3c6c1e434c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67f84238894aec" /><Relationship Type="http://schemas.openxmlformats.org/officeDocument/2006/relationships/image" Target="/ppt/media/image5.png" Id="Refbdb471a1d44af9" /><Relationship Type="http://schemas.openxmlformats.org/officeDocument/2006/relationships/notesSlide" Target="/ppt/notesSlides/notesSlide6.xml" Id="R34e95ee5c24e42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f5e0a78d054d66" /><Relationship Type="http://schemas.openxmlformats.org/officeDocument/2006/relationships/image" Target="/ppt/media/image6.png" Id="Ra8d77172086b44a0" /><Relationship Type="http://schemas.openxmlformats.org/officeDocument/2006/relationships/notesSlide" Target="/ppt/notesSlides/notesSlide7.xml" Id="Rae7e00645e0840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75380fa0e1473d" /><Relationship Type="http://schemas.openxmlformats.org/officeDocument/2006/relationships/image" Target="/ppt/media/image7.png" Id="R9e51cf2acc4c49ca" /><Relationship Type="http://schemas.openxmlformats.org/officeDocument/2006/relationships/notesSlide" Target="/ppt/notesSlides/notesSlide8.xml" Id="Rd3b2ef471a8943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018ddadc944f88" /><Relationship Type="http://schemas.openxmlformats.org/officeDocument/2006/relationships/image" Target="/ppt/media/image8.png" Id="R77bcf4fb79e64ebb" /><Relationship Type="http://schemas.openxmlformats.org/officeDocument/2006/relationships/notesSlide" Target="/ppt/notesSlides/notesSlide9.xml" Id="R28911766928c4a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65cefa441143eb" /><Relationship Type="http://schemas.openxmlformats.org/officeDocument/2006/relationships/image" Target="/ppt/media/image9.png" Id="R72791b780a234df5" /><Relationship Type="http://schemas.openxmlformats.org/officeDocument/2006/relationships/notesSlide" Target="/ppt/notesSlides/notesSlide10.xml" Id="Rb2179e0a8cac41a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081d7873e34bb5" /><Relationship Type="http://schemas.openxmlformats.org/officeDocument/2006/relationships/image" Target="/ppt/media/image10.png" Id="Ra17b170b28c14565" /><Relationship Type="http://schemas.openxmlformats.org/officeDocument/2006/relationships/notesSlide" Target="/ppt/notesSlides/notesSlide11.xml" Id="R140e6589a69c48d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f7518f8a0b4acb" /><Relationship Type="http://schemas.openxmlformats.org/officeDocument/2006/relationships/image" Target="/ppt/media/image11.png" Id="R4fb192bc87614318" /><Relationship Type="http://schemas.openxmlformats.org/officeDocument/2006/relationships/notesSlide" Target="/ppt/notesSlides/notesSlide12.xml" Id="Red976708a7b64db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3ce54f460a4bb7" /><Relationship Type="http://schemas.openxmlformats.org/officeDocument/2006/relationships/notesSlide" Target="/ppt/notesSlides/notesSlide13.xml" Id="R70afee2c81c84a9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453286ce17431e" /><Relationship Type="http://schemas.openxmlformats.org/officeDocument/2006/relationships/notesSlide" Target="/ppt/notesSlides/notesSlide14.xml" Id="R4b2c819695214f9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59f437652543c4" /><Relationship Type="http://schemas.openxmlformats.org/officeDocument/2006/relationships/notesSlide" Target="/ppt/notesSlides/notesSlide15.xml" Id="R29727c6ce1a740b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415e32eff34cc5" /><Relationship Type="http://schemas.openxmlformats.org/officeDocument/2006/relationships/notesSlide" Target="/ppt/notesSlides/notesSlide16.xml" Id="Ra7a44f6b34724b7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0075037b6d416e" /><Relationship Type="http://schemas.openxmlformats.org/officeDocument/2006/relationships/notesSlide" Target="/ppt/notesSlides/notesSlide17.xml" Id="R032c04edcc7a4db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2b2acf3b414120" /><Relationship Type="http://schemas.openxmlformats.org/officeDocument/2006/relationships/notesSlide" Target="/ppt/notesSlides/notesSlide18.xml" Id="R79825241804948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1B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0E4C9-E889-4AC6-8CB9-36204EC4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FF97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FF976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976A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3151AB-6059-4063-A626-FF00985DBF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659bd1cab14ba3"/>
          <a:srcRect xmlns:a="http://schemas.openxmlformats.org/drawingml/2006/main" l="27332" t="0" r="273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0D0DE-C251-4FF5-983B-CBD1C8215E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d205bd5e440e8"/>
          <a:stretch xmlns:a="http://schemas.openxmlformats.org/drawingml/2006/main"/>
        </p:blipFill>
        <p:spPr>
          <a:xfrm xmlns:a="http://schemas.openxmlformats.org/drawingml/2006/main">
            <a:off x="495300" y="363384"/>
            <a:ext cx="4095750" cy="128300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72D97-FD78-4D6E-AF59-D2040F30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43175"/>
            <a:ext cx="5905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Gestão da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Academia Movimento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93628-E5B5-436E-8E73-929FAFC7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14825"/>
            <a:ext cx="561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E1E4E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E1E4E9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E1E4E9"/>
                </a:solidFill>
                <a:latin typeface="Calibri"/>
                <a:ea typeface="Calibri"/>
                <a:cs typeface="Calibri"/>
              </a:rPr>
              <a:t>Alunos e contratos.</a:t>
            </a:r>
          </a:p>
          <a:p xmlns:a="http://schemas.openxmlformats.org/drawingml/2006/main">
            <a:pPr>
              <a:defRPr sz="2400" b="0">
                <a:solidFill>
                  <a:srgbClr val="E1E4E9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E1E4E9"/>
                </a:solidFill>
                <a:latin typeface="Calibri"/>
                <a:ea typeface="Calibri"/>
                <a:cs typeface="Calibri"/>
              </a:rPr>
              <a:t>Estoque sob controle.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3E7F29-0509-407A-B9A2-2D97058A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F97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F976A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976A"/>
                </a:solidFill>
                <a:latin typeface="Calibri"/>
                <a:ea typeface="Calibri"/>
                <a:cs typeface="Calibri"/>
              </a:rPr>
              <a:t>Grupo 05</a:t>
            </a:r>
          </a:p>
        </p:txBody>
      </p:sp>
    </p:spTree>
    <p:extLst>
      <p:ext uri="{BB962C8B-B14F-4D97-AF65-F5344CB8AC3E}">
        <p14:creationId xmlns:p14="http://schemas.microsoft.com/office/powerpoint/2010/main" val="2695711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00CD0C-AC5F-48C6-AB60-1F63DABE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O atendimento da academia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AA62B4-3C58-439D-A5CF-E67663F8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787E85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3B862D-26EB-45BA-A04A-69E05715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Cliente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4CC43-92FB-4573-ACF6-A22AFDAF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Academia Movimento, uma academia fictícia que precisa organizar suas operações.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2136D-6129-4EA8-9E56-9BE1D11C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Necessidade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0BFB1-3332-493F-97ED-2BE42E2B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Consultar o aluno e sua contratação durante o atendimento.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EB694-7480-416A-8C90-D38009AD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Problema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006E5-C91E-46F5-8846-38DF4E59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0075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Cadastros e controles separados dificultam a consulta e o acompanhamento.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73D39-5E7F-40FF-8F28-F9B80F07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Proposta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008FD-7511-4F42-88B3-56EC2125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0075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Reunir essas informações e registrar cada entrada e saída de estoque.</a:t>
            </a:r>
          </a:p>
        </p:txBody>
      </p:sp>
    </p:spTree>
    <p:extLst>
      <p:ext uri="{BB962C8B-B14F-4D97-AF65-F5344CB8AC3E}">
        <p14:creationId xmlns:p14="http://schemas.microsoft.com/office/powerpoint/2010/main" val="7555678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97281-9AAF-4F73-8C26-BDCCD230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Escopo e regras do sistema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F9EBC-10A6-4018-B961-7A27CAE4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787E85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EED56-9A05-4B2B-A2B6-C9CCA0B87E40}"/>
              </a:ext>
            </a:extLst>
          </p:cNvPr>
          <p:cNvGraphicFramePr/>
          <p:nvPr/>
        </p:nvGraphicFramePr>
        <p:xfrm>
          <a:off xmlns:a="http://schemas.openxmlformats.org/drawingml/2006/main" x="552450" y="1457325"/>
          <a:ext xmlns:a="http://schemas.openxmlformats.org/drawingml/2006/main" cx="110871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86050"/>
                <a:gridCol w="8401050"/>
              </a:tblGrid>
              <a:tr h="657225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Operação</a:t>
                      </a:r>
                    </a:p>
                  </a:txBody>
                  <a:tcPr marL="91440" marR="91440" marT="45720" marB="45720">
                    <a:solidFill>
                      <a:srgbClr val="191B1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Regra adotada</a:t>
                      </a:r>
                    </a:p>
                  </a:txBody>
                  <a:tcPr marL="91440" marR="91440" marT="45720" marB="45720">
                    <a:solidFill>
                      <a:srgbClr val="191B1E"/>
                    </a:solidFill>
                  </a:tcPr>
                </a:tc>
              </a:tr>
              <a:tr h="65722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Alunos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CPF válido e único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Matrículas</a:t>
                      </a:r>
                    </a:p>
                  </a:txBody>
                  <a:tcPr marL="91440" marR="91440" marT="45720" marB="45720">
                    <a:solidFill>
                      <a:srgbClr val="EEF0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Uma contratação aberta por aluno e plano</a:t>
                      </a:r>
                    </a:p>
                  </a:txBody>
                  <a:tcPr marL="91440" marR="91440" marT="45720" marB="45720">
                    <a:solidFill>
                      <a:srgbClr val="EEF0F3"/>
                    </a:solidFill>
                  </a:tcPr>
                </a:tc>
              </a:tr>
              <a:tr h="65722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Pagamento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Um registro para o valor total contratado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Estoque</a:t>
                      </a:r>
                    </a:p>
                  </a:txBody>
                  <a:tcPr marL="91440" marR="91440" marT="45720" marB="45720">
                    <a:solidFill>
                      <a:srgbClr val="EEF0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Saída limitada ao saldo disponível</a:t>
                      </a:r>
                    </a:p>
                  </a:txBody>
                  <a:tcPr marL="91440" marR="91440" marT="45720" marB="45720">
                    <a:solidFill>
                      <a:srgbClr val="EEF0F3"/>
                    </a:solidFill>
                  </a:tcPr>
                </a:tc>
              </a:tr>
              <a:tr h="65722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Acesso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Permissões por perfil de usuário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E2900-3DE5-494D-B51C-50C707DE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007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Dados guardados em banco relacional local</a:t>
            </a:r>
          </a:p>
        </p:txBody>
      </p:sp>
    </p:spTree>
    <p:extLst>
      <p:ext uri="{BB962C8B-B14F-4D97-AF65-F5344CB8AC3E}">
        <p14:creationId xmlns:p14="http://schemas.microsoft.com/office/powerpoint/2010/main" val="7824241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1F540A-9E91-4DC1-B529-9EE604E4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Acesso ao sistema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484CA-B9DA-40FC-8012-A0BC9059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787E85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8480B-FC9A-4A38-8FDC-EC436F0B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Quem usa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AED9F-8541-410E-B421-E4FCCF7B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Administrador e equipe da recepção.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93F5B-E0DE-459C-B902-4A7A244C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O que informa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A66D2-6F08-4045-AD87-3C5275A1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Usuário e senha de uma conta ativa.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09BE87-813C-4E19-8A7E-B281CE1D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O que acontece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D78A3-E23B-4B37-96BD-444054F5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O perfil define as ações disponíveis nas outras telas.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BD715-18DD-498F-842A-882A11277E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cd2ca143004a41"/>
          <a:stretch xmlns:a="http://schemas.openxmlformats.org/drawingml/2006/main"/>
        </p:blipFill>
        <p:spPr>
          <a:xfrm xmlns:a="http://schemas.openxmlformats.org/drawingml/2006/main">
            <a:off x="3601201" y="1343025"/>
            <a:ext cx="7828049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8942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D50BBC-5E66-4BE8-AE0E-EF9CC1EB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Visão geral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D45DF-3F95-4432-AA6D-283CA17C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787E85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48045-05D4-44BF-99CA-5BEE4091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Quem usa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6F412-29CF-4732-B521-5674D990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Equipe da academia.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6CAEB8-5ACB-4DF7-9ED4-4765DF8A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O que mostra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67ABAE-46E4-429A-903C-98ED1004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Alunos, matrículas, pagamentos pendentes e reposição.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6CDFA-5E33-463F-BE84-207BB70D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Como ajuda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30B681-3A56-4B33-A21A-A5F0EDAC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O alerta leva à consulta dos produtos e do estoque.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087BE-2FF5-4725-84B9-42321F2ACE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42efdf43e466b"/>
          <a:stretch xmlns:a="http://schemas.openxmlformats.org/drawingml/2006/main"/>
        </p:blipFill>
        <p:spPr>
          <a:xfrm xmlns:a="http://schemas.openxmlformats.org/drawingml/2006/main">
            <a:off x="3601201" y="1343025"/>
            <a:ext cx="7828049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2020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E9EE50-0625-45D9-A494-92715C79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Cadastro e consulta de alunos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6B6412-F91F-404A-A144-EBD55D98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787E85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D288F-F79E-4324-A8A3-15871739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Quem usa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D4838-7BE9-4EB1-81C2-020F80D5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Administrador e recepção.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ACA6A-5449-40EA-B93B-3402E248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O que guarda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6F9A8-4A11-4E0F-A821-2312C22E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Nome, CPF, telefone, e-mail e situação do cadastro.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F27B9-634E-476D-A9B8-572EF0F5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O que permite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6BB732-B79D-40AB-B744-3F20B42A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Buscar, cadastrar e editar. O aluno é vinculado à matrícula.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01F2B9-FD8E-41CA-8EDE-AA71DB960F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bdb471a1d44af9"/>
          <a:stretch xmlns:a="http://schemas.openxmlformats.org/drawingml/2006/main"/>
        </p:blipFill>
        <p:spPr>
          <a:xfrm xmlns:a="http://schemas.openxmlformats.org/drawingml/2006/main">
            <a:off x="3601201" y="1343025"/>
            <a:ext cx="7828049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7672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ACB3B2-7442-46D5-87F3-A7849926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Modalidades oferecidas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8D130-1DEB-4327-9026-0E2DB311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787E85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82179-E948-4CA1-924B-21F3618E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Quem usa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50A2E-EF44-4C11-905F-8ED60BFB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Equipe consulta. O administrador altera.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ABC63-9704-4F2B-AAC5-508298DD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O que guarda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477F5-986D-4591-AF73-FD77E44E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Nome e descrição da atividade.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9C5471-B88C-4E40-B333-9EB7FE59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Relação com planos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94AF0-B161-402D-8B12-51EF3D72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Cada plano usa uma modalidade cadastrada.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54A034-9039-42F2-8320-A97152E9E5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77172086b44a0"/>
          <a:stretch xmlns:a="http://schemas.openxmlformats.org/drawingml/2006/main"/>
        </p:blipFill>
        <p:spPr>
          <a:xfrm xmlns:a="http://schemas.openxmlformats.org/drawingml/2006/main">
            <a:off x="3601201" y="1343025"/>
            <a:ext cx="7828049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0598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231B7C-627A-4095-B4A2-F2281DB5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Planos da academia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EA714-6118-411F-9EB8-F9E53041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787E85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AE0BD-98D7-45BA-BD43-CC780F60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Quem usa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1E688-DA79-41FD-9DCA-2822664E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Equipe consulta. O administrador configura.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3CEF12-07A7-412D-B393-574A6C96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O que define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8480D5-94F0-495A-A5F1-89AA75AF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Modalidade, duração em meses e valor total.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43ED86-930D-4E82-90AC-77EF0E0B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Na contratação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69421-5672-4D10-A755-5FE96A8B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A matrícula copia o valor e calcula a validade.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2FEE8B-02E4-4C53-86E7-F56E30E98D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51cf2acc4c49ca"/>
          <a:stretch xmlns:a="http://schemas.openxmlformats.org/drawingml/2006/main"/>
        </p:blipFill>
        <p:spPr>
          <a:xfrm xmlns:a="http://schemas.openxmlformats.org/drawingml/2006/main">
            <a:off x="3601201" y="1343025"/>
            <a:ext cx="7828049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6616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1CC2B6-BD5E-447E-88D1-1C94FEFE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Matrículas e pagamentos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632214-8865-4C7D-BF64-F626C0B4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787E85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45CA1-0AC0-4540-8FA4-2D416474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Quem usa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7E82A-BDB9-4BA3-9BA7-97157C65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Administrador e recepção.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CB79D9-91A5-4ABB-B6C4-9513475F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O que registra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DF44FF-C2E8-44C7-AD47-3010C8FF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Aluno, plano, datas, valor e situação.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D2A08A-3800-4925-8DAB-09F087BA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O que permite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207DB4-7D0E-4365-993D-41C2320A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Contratar, alterar situação, pagar e consultar histórico.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6AC978-0232-415E-925D-996FBC4856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bcf4fb79e64ebb"/>
          <a:stretch xmlns:a="http://schemas.openxmlformats.org/drawingml/2006/main"/>
        </p:blipFill>
        <p:spPr>
          <a:xfrm xmlns:a="http://schemas.openxmlformats.org/drawingml/2006/main">
            <a:off x="3601201" y="1343025"/>
            <a:ext cx="7828049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286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43B85-AE82-4892-9D9B-D09A8543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Produtos e saldo disponível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12D9E-2032-42F2-9B5B-F6390393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787E85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930850-03B1-4C84-BCFC-25311C11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Quem usa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B4E4E-AB1B-473B-BA73-7FA524B7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Equipe consulta e movimenta. Administrador cadastra.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1381A-4C1B-4BB6-B59F-54662CF0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O que apresenta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E204EE-8BC1-4EFD-863E-D7327F9C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Produto, unidade, preço, saldo e mínimo.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10B52-4F8E-4027-BFD6-31DB568B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Alerta de reposição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04B7B-AAFF-40DF-A64E-6C4676E7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REPOR aparece quando saldo chega ao mínimo ou fica abaixo.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F8570-8AEF-4CA7-B495-57A27AEC9D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791b780a234df5"/>
          <a:stretch xmlns:a="http://schemas.openxmlformats.org/drawingml/2006/main"/>
        </p:blipFill>
        <p:spPr>
          <a:xfrm xmlns:a="http://schemas.openxmlformats.org/drawingml/2006/main">
            <a:off x="3601201" y="1343025"/>
            <a:ext cx="7828049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9116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B8699A-DDE3-4B6E-9336-39CA909F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Histórico de movimentações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CCDC4-9DF0-4650-891C-FFFE9B67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787E85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FE4306-6F67-4A33-A33D-8F4B4945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Quem usa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0B0A5-7538-4579-AD5F-6418F621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Administrador e recepção.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78A166-CF2A-4DB3-8696-68A54595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O que registra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ACEE6-3392-4EAB-9D6A-89B7EF56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Produto, tipo, quantidade, motivo, data e responsável.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D9569-3420-4AC0-976A-5A33A33B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Como controla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02078C-9749-4BDE-9287-1E7106A1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Cada entrada ou saída atualiza o saldo na mesma transação.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96328C-46C2-4823-9BFC-A84059F24E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7b170b28c14565"/>
          <a:stretch xmlns:a="http://schemas.openxmlformats.org/drawingml/2006/main"/>
        </p:blipFill>
        <p:spPr>
          <a:xfrm xmlns:a="http://schemas.openxmlformats.org/drawingml/2006/main">
            <a:off x="3601201" y="1343025"/>
            <a:ext cx="7828049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361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3D2A21-BB63-496D-A2B0-8CE4D342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Usuários e permissões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5F63B-9D1E-47BF-88B3-7732B7D2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787E85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EFF0C-02D4-462F-AA80-B6EBFA8E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Quem usa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BD9EC-02B5-4217-895C-58F5699B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Apenas o administrador.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C683B3-93B9-47E8-BCC2-9B78E3C7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O que define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B7EAC-A07F-4701-B51F-204E66CF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Login, senha, perfil e conta ativa.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4E8863-D466-4473-97FF-AAB43468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No atendimento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771AF4-17E3-479A-8513-ED65688A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O atendente opera alunos, contratos e movimentações.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C2D7D1-4A6F-49BF-A039-26CC720DC2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b192bc87614318"/>
          <a:stretch xmlns:a="http://schemas.openxmlformats.org/drawingml/2006/main"/>
        </p:blipFill>
        <p:spPr>
          <a:xfrm xmlns:a="http://schemas.openxmlformats.org/drawingml/2006/main">
            <a:off x="3601201" y="1343025"/>
            <a:ext cx="7828049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6569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A75E4-6922-4E59-86EF-AB4D0C50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Estrutura do banco de dados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703B2-53EB-4216-A119-6D0C6D6F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787E85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BC675-2C28-4DAC-8CFE-F40151C0E4E0}"/>
              </a:ext>
            </a:extLst>
          </p:cNvPr>
          <p:cNvGraphicFramePr/>
          <p:nvPr/>
        </p:nvGraphicFramePr>
        <p:xfrm>
          <a:off xmlns:a="http://schemas.openxmlformats.org/drawingml/2006/main" x="552450" y="1428750"/>
          <a:ext xmlns:a="http://schemas.openxmlformats.org/drawingml/2006/main" cx="110871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67125"/>
                <a:gridCol w="7419975"/>
              </a:tblGrid>
              <a:tr h="585107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Relacionamento</a:t>
                      </a:r>
                    </a:p>
                  </a:txBody>
                  <a:tcPr marL="91440" marR="91440" marT="45720" marB="45720">
                    <a:solidFill>
                      <a:srgbClr val="191B1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Como os dados se conectam</a:t>
                      </a:r>
                    </a:p>
                  </a:txBody>
                  <a:tcPr marL="91440" marR="91440" marT="45720" marB="45720">
                    <a:solidFill>
                      <a:srgbClr val="191B1E"/>
                    </a:solidFill>
                  </a:tcPr>
                </a:tc>
              </a:tr>
              <a:tr h="585107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Aluno e matrícula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Um aluno pode ter várias matrículas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Modalidade e plano</a:t>
                      </a:r>
                    </a:p>
                  </a:txBody>
                  <a:tcPr marL="91440" marR="91440" marT="45720" marB="45720">
                    <a:solidFill>
                      <a:srgbClr val="EEF0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Uma modalidade pode ter vários planos</a:t>
                      </a:r>
                    </a:p>
                  </a:txBody>
                  <a:tcPr marL="91440" marR="91440" marT="45720" marB="45720">
                    <a:solidFill>
                      <a:srgbClr val="EEF0F3"/>
                    </a:solidFill>
                  </a:tcPr>
                </a:tc>
              </a:tr>
              <a:tr h="585107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Plano e matrícula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Um plano pode ser contratado por vários alunos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Matrícula e histórico</a:t>
                      </a:r>
                    </a:p>
                  </a:txBody>
                  <a:tcPr marL="91440" marR="91440" marT="45720" marB="45720">
                    <a:solidFill>
                      <a:srgbClr val="EEF0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Cada alteração gera um registro</a:t>
                      </a:r>
                    </a:p>
                  </a:txBody>
                  <a:tcPr marL="91440" marR="91440" marT="45720" marB="45720">
                    <a:solidFill>
                      <a:srgbClr val="EEF0F3"/>
                    </a:solidFill>
                  </a:tcPr>
                </a:tc>
              </a:tr>
              <a:tr h="585107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Matrícula e pagamento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Zero ou um pagamento por contratação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Produto e movimento</a:t>
                      </a:r>
                    </a:p>
                  </a:txBody>
                  <a:tcPr marL="91440" marR="91440" marT="45720" marB="45720">
                    <a:solidFill>
                      <a:srgbClr val="EEF0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Cada entrada ou saída pertence a um produto</a:t>
                      </a:r>
                    </a:p>
                  </a:txBody>
                  <a:tcPr marL="91440" marR="91440" marT="45720" marB="45720">
                    <a:solidFill>
                      <a:srgbClr val="EEF0F3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6ED9E-B1B8-45F4-BC69-5BB2CE90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Usuários identificam quem registrou cada operação</a:t>
            </a:r>
          </a:p>
        </p:txBody>
      </p:sp>
    </p:spTree>
    <p:extLst>
      <p:ext uri="{BB962C8B-B14F-4D97-AF65-F5344CB8AC3E}">
        <p14:creationId xmlns:p14="http://schemas.microsoft.com/office/powerpoint/2010/main" val="12071523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43D01-505D-4124-AFCA-D3CAC294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Tecnologias e organização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DE2E1-5C21-4CFF-8731-2138BB06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787E85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E04D6-3109-4A13-BCA8-E1B2F4B5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Java e Swing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68D0E-9656-4ECF-97EC-BFF0D8AF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Interface desktop com tabelas, formulários e navegação entre telas.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9417F-847E-49C0-A082-FE0B2843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049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JDBC e H2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B1DDD-882B-4625-BBDB-76ECDE18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5740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Consultas parametrizadas e banco relacional salvo no computador.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BFFCF0-C0B2-467B-98A7-1794F18B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IntelliJ IDEA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5F7DCC-691F-417F-AC28-1FD0DCAB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0075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Projeto organizado e biblioteca local para executar a demonstração.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749358-3884-4B34-B738-410DCD95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Separação do código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B9190-EF62-4B38-9AD6-1FDC28B1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0075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A tela chama o serviço. O serviço valida e acessa o banco.</a:t>
            </a:r>
          </a:p>
        </p:txBody>
      </p:sp>
    </p:spTree>
    <p:extLst>
      <p:ext uri="{BB962C8B-B14F-4D97-AF65-F5344CB8AC3E}">
        <p14:creationId xmlns:p14="http://schemas.microsoft.com/office/powerpoint/2010/main" val="10660345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E11335-34B0-4002-B581-9DA74B09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Cuidados de implementação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28A0D-6DDB-4236-A426-F1C8C8B2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787E85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203C3-EF97-43D0-8DC0-C1A69608B64E}"/>
              </a:ext>
            </a:extLst>
          </p:cNvPr>
          <p:cNvGraphicFramePr/>
          <p:nvPr/>
        </p:nvGraphicFramePr>
        <p:xfrm>
          <a:off xmlns:a="http://schemas.openxmlformats.org/drawingml/2006/main" x="552450" y="1524000"/>
          <a:ext xmlns:a="http://schemas.openxmlformats.org/drawingml/2006/main" cx="110871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09950"/>
                <a:gridCol w="7677150"/>
              </a:tblGrid>
              <a:tr h="708660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Ponto de atenção</a:t>
                      </a:r>
                    </a:p>
                  </a:txBody>
                  <a:tcPr marL="91440" marR="91440" marT="45720" marB="45720">
                    <a:solidFill>
                      <a:srgbClr val="191B1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Decisão no sistema</a:t>
                      </a:r>
                    </a:p>
                  </a:txBody>
                  <a:tcPr marL="91440" marR="91440" marT="45720" marB="45720">
                    <a:solidFill>
                      <a:srgbClr val="191B1E"/>
                    </a:solidFill>
                  </a:tcPr>
                </a:tc>
              </a:tr>
              <a:tr h="70866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Saldo de estoque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Atualizar saldo e histórico na mesma transação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Duplicidade de matrícula</a:t>
                      </a:r>
                    </a:p>
                  </a:txBody>
                  <a:tcPr marL="91440" marR="91440" marT="45720" marB="45720">
                    <a:solidFill>
                      <a:srgbClr val="EEF0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Conferir contratos abertos antes de gravar</a:t>
                      </a:r>
                    </a:p>
                  </a:txBody>
                  <a:tcPr marL="91440" marR="91440" marT="45720" marB="45720">
                    <a:solidFill>
                      <a:srgbClr val="EEF0F3"/>
                    </a:solidFill>
                  </a:tcPr>
                </a:tc>
              </a:tr>
              <a:tr h="70866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Mudança do preço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Manter o valor original na contratação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Acesso da equipe</a:t>
                      </a:r>
                    </a:p>
                  </a:txBody>
                  <a:tcPr marL="91440" marR="91440" marT="45720" marB="45720">
                    <a:solidFill>
                      <a:srgbClr val="EEF0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Conferir senha e permissão no serviço</a:t>
                      </a:r>
                    </a:p>
                  </a:txBody>
                  <a:tcPr marL="91440" marR="91440" marT="45720" marB="45720">
                    <a:solidFill>
                      <a:srgbClr val="EEF0F3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D58FF-E830-4AF4-8823-444A9798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6737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Essas regras também entram nos testes</a:t>
            </a:r>
          </a:p>
        </p:txBody>
      </p:sp>
    </p:spTree>
    <p:extLst>
      <p:ext uri="{BB962C8B-B14F-4D97-AF65-F5344CB8AC3E}">
        <p14:creationId xmlns:p14="http://schemas.microsoft.com/office/powerpoint/2010/main" val="200443190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73C33F-1B05-4EAF-8BA4-CCAFCDAE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Testes e resultados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7C619-2914-458F-985A-7C8D3490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787E85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DF2F9-D3E6-43C2-A17C-71BD4EBA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333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0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0500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0500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43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479D8-C8F2-4FD4-BFE5-12BB957E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verificações passaram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4F25DE-C86D-48BE-92ED-CAF6B72A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4667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787E85"/>
                </a:solidFill>
                <a:latin typeface="Calibri"/>
                <a:ea typeface="Calibri"/>
                <a:cs typeface="Calibri"/>
              </a:rPr>
              <a:t>Regras do serviço e integração com o banco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1CB5E-5184-4848-972A-9737B3BE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14475"/>
            <a:ext cx="52387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Acesso e permissões</a:t>
            </a:r>
          </a:p>
          <a:p xmlns:a="http://schemas.openxmlformats.org/drawingml/2006/main">
            <a:pPr>
              <a:defRPr sz="217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Cadastros e duplicidades</a:t>
            </a:r>
          </a:p>
          <a:p xmlns:a="http://schemas.openxmlformats.org/drawingml/2006/main">
            <a:pPr>
              <a:defRPr sz="217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Situação e pagamento</a:t>
            </a:r>
          </a:p>
          <a:p xmlns:a="http://schemas.openxmlformats.org/drawingml/2006/main">
            <a:pPr>
              <a:defRPr sz="217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Saldo e histórico</a:t>
            </a:r>
          </a:p>
          <a:p xmlns:a="http://schemas.openxmlformats.org/drawingml/2006/main">
            <a:pPr>
              <a:defRPr sz="217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Concorrência e rollback</a:t>
            </a:r>
          </a:p>
          <a:p xmlns:a="http://schemas.openxmlformats.org/drawingml/2006/main">
            <a:pPr>
              <a:defRPr sz="217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Persistência após reabrir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9BE62-8F1C-42A3-A60C-7656F57E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912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O roteiro manual orienta o ensaio no aplicativo</a:t>
            </a:r>
          </a:p>
        </p:txBody>
      </p:sp>
    </p:spTree>
    <p:extLst>
      <p:ext uri="{BB962C8B-B14F-4D97-AF65-F5344CB8AC3E}">
        <p14:creationId xmlns:p14="http://schemas.microsoft.com/office/powerpoint/2010/main" val="20789149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DA65DE-F508-4906-B92D-DF75A28B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Demonstração do atendimento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A739E-24F0-4152-90FE-C23F326F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787E85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77EF9-E2DF-45AD-93E5-50892666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FB4EA-61A5-4EBD-8EA5-730C9135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66875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Entrar e consultar um aluno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89821-2239-45DE-82A9-E713EE2D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6222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1339C-A779-4FAB-99F7-C2D6CC5B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479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Registrar matrícula e pagamento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B2E70E-0608-47E4-9052-8F4CDEE7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0091A8-E34B-4A09-ABE6-7AD100AB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29025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Alterar situação e conferir histórico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50FE77-35BE-4249-8A27-75266875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2437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B1042-AFC1-426D-917D-2EBE310F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101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Movimentar estoque e testar o limite do saldo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DA53D1-749B-43C9-A3BF-892C8617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5787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787E85"/>
                </a:solidFill>
                <a:latin typeface="Calibri"/>
                <a:ea typeface="Calibri"/>
                <a:cs typeface="Calibri"/>
              </a:rPr>
              <a:t>Fluxo completo no aplicativo aberto</a:t>
            </a:r>
          </a:p>
        </p:txBody>
      </p:sp>
    </p:spTree>
    <p:extLst>
      <p:ext uri="{BB962C8B-B14F-4D97-AF65-F5344CB8AC3E}">
        <p14:creationId xmlns:p14="http://schemas.microsoft.com/office/powerpoint/2010/main" val="19755162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64EAB1-7A0D-4806-9948-490E6494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Entrega e próximos passos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5DA0A-AE6C-46C7-9B6F-00D0C1E8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787E85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733E75-9D1E-4A36-9B0E-EA9983D7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Nesta versão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C1A58-F3BF-430B-965A-85736AB7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Cadastro de alunos, contratação de planos e controle de estoque com histórico.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9D308-294E-4DC9-AE55-64DD2AFB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Acompanhamento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F45EB0-78B0-4AA4-B2C3-F7444325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Situação, pagamento da contratação e alertas de reposição.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C75E64-74B7-4D13-BE74-0DED903B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Limites do escopo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B7AFC-C1A1-4668-B520-F0CCC486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0075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Execução local, pagamento único por contrato e conferência manual de validade.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4F6B0-2CEB-411C-AB82-60522BD0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Possíveis evoluções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5F4745-BF2D-479D-ACF7-58134BEA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0075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Cobranças recorrentes, backup automático e integração com a catraca.</a:t>
            </a:r>
          </a:p>
        </p:txBody>
      </p:sp>
    </p:spTree>
    <p:extLst>
      <p:ext uri="{BB962C8B-B14F-4D97-AF65-F5344CB8AC3E}">
        <p14:creationId xmlns:p14="http://schemas.microsoft.com/office/powerpoint/2010/main" val="5143344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2026-10-09T12:26:51.6920000Z</dcterms:created>
  <dcterms:modified xsi:type="dcterms:W3CDTF">2026-10-09T12:26:51.6920000Z</dcterms:modified>
</coreProperties>
</file>