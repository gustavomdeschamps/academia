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636245640f4488" /><Relationship Type="http://schemas.openxmlformats.org/officeDocument/2006/relationships/extended-properties" Target="/docProps/app.xml" Id="R2656ae7466b64bfc" /><Relationship Type="http://schemas.openxmlformats.org/officeDocument/2006/relationships/officeDocument" Target="/ppt/presentation.xml" Id="R41a25f28599d41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321a02e9a84497"/>
  </p:sldMasterIdLst>
  <p:notesMasterIdLst>
    <p:notesMasterId xmlns:r="http://schemas.openxmlformats.org/officeDocument/2006/relationships" r:id="R561e33473a6445bb"/>
  </p:notesMasterIdLst>
  <p:sldIdLst>
    <p:sldId xmlns:r="http://schemas.openxmlformats.org/officeDocument/2006/relationships" id="256" r:id="Re3d08171190e41d5"/>
    <p:sldId xmlns:r="http://schemas.openxmlformats.org/officeDocument/2006/relationships" id="257" r:id="Rf332673529dc43e5"/>
    <p:sldId xmlns:r="http://schemas.openxmlformats.org/officeDocument/2006/relationships" id="258" r:id="Raffdb3fd6a1a4d23"/>
    <p:sldId xmlns:r="http://schemas.openxmlformats.org/officeDocument/2006/relationships" id="259" r:id="R9c7961310bb34dd5"/>
    <p:sldId xmlns:r="http://schemas.openxmlformats.org/officeDocument/2006/relationships" id="260" r:id="Rde206fdd06f94a92"/>
    <p:sldId xmlns:r="http://schemas.openxmlformats.org/officeDocument/2006/relationships" id="261" r:id="Rc323c28b4e6d4108"/>
    <p:sldId xmlns:r="http://schemas.openxmlformats.org/officeDocument/2006/relationships" id="262" r:id="Rdb3ba20966bc4e8c"/>
    <p:sldId xmlns:r="http://schemas.openxmlformats.org/officeDocument/2006/relationships" id="263" r:id="R0374ceb8f85d4995"/>
    <p:sldId xmlns:r="http://schemas.openxmlformats.org/officeDocument/2006/relationships" id="264" r:id="R0ec14dc7336c40f1"/>
    <p:sldId xmlns:r="http://schemas.openxmlformats.org/officeDocument/2006/relationships" id="265" r:id="R85a2c91451084a71"/>
    <p:sldId xmlns:r="http://schemas.openxmlformats.org/officeDocument/2006/relationships" id="266" r:id="Re53621aa60734520"/>
    <p:sldId xmlns:r="http://schemas.openxmlformats.org/officeDocument/2006/relationships" id="267" r:id="R39d1a6cdc90d4616"/>
    <p:sldId xmlns:r="http://schemas.openxmlformats.org/officeDocument/2006/relationships" id="268" r:id="R7deb92cdfd7c403b"/>
    <p:sldId xmlns:r="http://schemas.openxmlformats.org/officeDocument/2006/relationships" id="269" r:id="Rf483451ea5594d9f"/>
    <p:sldId xmlns:r="http://schemas.openxmlformats.org/officeDocument/2006/relationships" id="270" r:id="R4024b81613814b5d"/>
    <p:sldId xmlns:r="http://schemas.openxmlformats.org/officeDocument/2006/relationships" id="271" r:id="Rf2ae7659874a4b17"/>
    <p:sldId xmlns:r="http://schemas.openxmlformats.org/officeDocument/2006/relationships" id="272" r:id="R1000016648bd4fe0"/>
    <p:sldId xmlns:r="http://schemas.openxmlformats.org/officeDocument/2006/relationships" id="273" r:id="R24a2eb01423746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704712a2fd4f0d" /><Relationship Type="http://schemas.openxmlformats.org/officeDocument/2006/relationships/slideMaster" Target="/ppt/slideMasters/slideMaster1.xml" Id="R07321a02e9a84497" /><Relationship Type="http://schemas.openxmlformats.org/officeDocument/2006/relationships/notesMaster" Target="/ppt/notesMasters/notesMaster1.xml" Id="R561e33473a6445bb" /><Relationship Type="http://schemas.openxmlformats.org/officeDocument/2006/relationships/presProps" Target="/ppt/presProps.xml" Id="Rd2fe96f3068b4850" /><Relationship Type="http://schemas.openxmlformats.org/officeDocument/2006/relationships/tableStyles" Target="/ppt/tableStyles.xml" Id="Rd0ea20a5f18c4477" /><Relationship Type="http://schemas.openxmlformats.org/officeDocument/2006/relationships/slide" Target="/ppt/slides/slide1.xml" Id="Re3d08171190e41d5" /><Relationship Type="http://schemas.openxmlformats.org/officeDocument/2006/relationships/slide" Target="/ppt/slides/slide2.xml" Id="Rf332673529dc43e5" /><Relationship Type="http://schemas.openxmlformats.org/officeDocument/2006/relationships/slide" Target="/ppt/slides/slide3.xml" Id="Raffdb3fd6a1a4d23" /><Relationship Type="http://schemas.openxmlformats.org/officeDocument/2006/relationships/slide" Target="/ppt/slides/slide4.xml" Id="R9c7961310bb34dd5" /><Relationship Type="http://schemas.openxmlformats.org/officeDocument/2006/relationships/slide" Target="/ppt/slides/slide5.xml" Id="Rde206fdd06f94a92" /><Relationship Type="http://schemas.openxmlformats.org/officeDocument/2006/relationships/slide" Target="/ppt/slides/slide6.xml" Id="Rc323c28b4e6d4108" /><Relationship Type="http://schemas.openxmlformats.org/officeDocument/2006/relationships/slide" Target="/ppt/slides/slide7.xml" Id="Rdb3ba20966bc4e8c" /><Relationship Type="http://schemas.openxmlformats.org/officeDocument/2006/relationships/slide" Target="/ppt/slides/slide8.xml" Id="R0374ceb8f85d4995" /><Relationship Type="http://schemas.openxmlformats.org/officeDocument/2006/relationships/slide" Target="/ppt/slides/slide9.xml" Id="R0ec14dc7336c40f1" /><Relationship Type="http://schemas.openxmlformats.org/officeDocument/2006/relationships/slide" Target="/ppt/slides/slide10.xml" Id="R85a2c91451084a71" /><Relationship Type="http://schemas.openxmlformats.org/officeDocument/2006/relationships/slide" Target="/ppt/slides/slide11.xml" Id="Re53621aa60734520" /><Relationship Type="http://schemas.openxmlformats.org/officeDocument/2006/relationships/slide" Target="/ppt/slides/slide12.xml" Id="R39d1a6cdc90d4616" /><Relationship Type="http://schemas.openxmlformats.org/officeDocument/2006/relationships/slide" Target="/ppt/slides/slide13.xml" Id="R7deb92cdfd7c403b" /><Relationship Type="http://schemas.openxmlformats.org/officeDocument/2006/relationships/slide" Target="/ppt/slides/slide14.xml" Id="Rf483451ea5594d9f" /><Relationship Type="http://schemas.openxmlformats.org/officeDocument/2006/relationships/slide" Target="/ppt/slides/slide15.xml" Id="R4024b81613814b5d" /><Relationship Type="http://schemas.openxmlformats.org/officeDocument/2006/relationships/slide" Target="/ppt/slides/slide16.xml" Id="Rf2ae7659874a4b17" /><Relationship Type="http://schemas.openxmlformats.org/officeDocument/2006/relationships/slide" Target="/ppt/slides/slide17.xml" Id="R1000016648bd4fe0" /><Relationship Type="http://schemas.openxmlformats.org/officeDocument/2006/relationships/slide" Target="/ppt/slides/slide18.xml" Id="R24a2eb01423746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c3a46ff5964a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5ccc863b114ebf" /><Relationship Type="http://schemas.openxmlformats.org/officeDocument/2006/relationships/notesMaster" Target="/ppt/notesMasters/notesMaster1.xml" Id="R5fffd598d90b4d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87486c01184507" /><Relationship Type="http://schemas.openxmlformats.org/officeDocument/2006/relationships/notesMaster" Target="/ppt/notesMasters/notesMaster1.xml" Id="R8543503c20de4f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488e5b9f7e4b59" /><Relationship Type="http://schemas.openxmlformats.org/officeDocument/2006/relationships/notesMaster" Target="/ppt/notesMasters/notesMaster1.xml" Id="R003f27602d7b4f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bafa1ad33b4b66" /><Relationship Type="http://schemas.openxmlformats.org/officeDocument/2006/relationships/notesMaster" Target="/ppt/notesMasters/notesMaster1.xml" Id="R566653242a264d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121639cc474c01" /><Relationship Type="http://schemas.openxmlformats.org/officeDocument/2006/relationships/notesMaster" Target="/ppt/notesMasters/notesMaster1.xml" Id="R7f1ad91ad58045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37bb2159af499f" /><Relationship Type="http://schemas.openxmlformats.org/officeDocument/2006/relationships/notesMaster" Target="/ppt/notesMasters/notesMaster1.xml" Id="Rfa1e324b88be46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21f436f6a249fe" /><Relationship Type="http://schemas.openxmlformats.org/officeDocument/2006/relationships/notesMaster" Target="/ppt/notesMasters/notesMaster1.xml" Id="R93bab037518a4c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a397490ecf4513" /><Relationship Type="http://schemas.openxmlformats.org/officeDocument/2006/relationships/notesMaster" Target="/ppt/notesMasters/notesMaster1.xml" Id="Rf47584cd97fa46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86fd1213af46fe" /><Relationship Type="http://schemas.openxmlformats.org/officeDocument/2006/relationships/notesMaster" Target="/ppt/notesMasters/notesMaster1.xml" Id="R06291ddcacaa4d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0978c065834621" /><Relationship Type="http://schemas.openxmlformats.org/officeDocument/2006/relationships/notesMaster" Target="/ppt/notesMasters/notesMaster1.xml" Id="Rc95cf68667844a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b0ac7275f44fc5" /><Relationship Type="http://schemas.openxmlformats.org/officeDocument/2006/relationships/notesMaster" Target="/ppt/notesMasters/notesMaster1.xml" Id="Read6d86cec274e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373c418e804e00" /><Relationship Type="http://schemas.openxmlformats.org/officeDocument/2006/relationships/notesMaster" Target="/ppt/notesMasters/notesMaster1.xml" Id="R36fbf58be88c4b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530fead58346a8" /><Relationship Type="http://schemas.openxmlformats.org/officeDocument/2006/relationships/notesMaster" Target="/ppt/notesMasters/notesMaster1.xml" Id="R9515db8984b444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5dad28ca6c45ff" /><Relationship Type="http://schemas.openxmlformats.org/officeDocument/2006/relationships/notesMaster" Target="/ppt/notesMasters/notesMaster1.xml" Id="R5d5089723a0a44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4c9b5e0aed4256" /><Relationship Type="http://schemas.openxmlformats.org/officeDocument/2006/relationships/notesMaster" Target="/ppt/notesMasters/notesMaster1.xml" Id="R8d171ac322b249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7f22d3e74b42ec" /><Relationship Type="http://schemas.openxmlformats.org/officeDocument/2006/relationships/notesMaster" Target="/ppt/notesMasters/notesMaster1.xml" Id="Ra98eb9c597bd43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32a4e8cd2d4dc7" /><Relationship Type="http://schemas.openxmlformats.org/officeDocument/2006/relationships/notesMaster" Target="/ppt/notesMasters/notesMaster1.xml" Id="R57e13ab2ffa14e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5c3b8e8b9044b1" /><Relationship Type="http://schemas.openxmlformats.org/officeDocument/2006/relationships/notesMaster" Target="/ppt/notesMasters/notesMaster1.xml" Id="R23c833a269d34a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Pulso, o cliente fictício e os nomes dos integrantes do Grupo 05. O sistema reúne o atendimento dos alunos e o controle dos materiais da academia.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cenário descreve informações descentralizadas. Explique com uma situação simples: a recepção precisa consultar o aluno e sua matrícula, enquanto a equipe acompanha os materiais. Não atribua estes problemas a uma academia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são regras adotadas para esta versão. O preço é o valor total do plano, não uma mensalidade recorrente. Trancamento altera a situação sem estender a validade. O administrador configura o sistema e a recepção realiza atendimentos.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o acesso com uma conta válida e explique que a senha é conferida por hash. Credenciais para a demonstração: admin / Admin@123 e recepcao / Recepcao@123. Mensagens de erro não identificam qual campo estava incorreto.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 diferença entre aluno ativo e matrícula ativa. Uma matrícula pode estar ativa e com pagamento pendente. Os números da imagem são registros fictícios de demonstração, não indicadores de uma academia real. O alerta aparece quando saldo é menor ou igual ao mínimo.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Demonstre a pesquisa e um cadastro. O serviço valida CPF, duplicidade, telefone e e-mail. Um aluno com matrícula aberta não pode ser inativado. Inativar preserva seus registros. Não existe botão para apagar o histórico do aluno.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modalidade representa a atividade, como musculação, funcional ou pilates. Esta tela não gerencia horários nem turmas. Um plano precisa apontar para uma modalidade existente. Mostre a relação com a tela seguinte.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Deixe claro que o valor é total para o período do plano. A alteração de um preço não modifica matrículas antigas. A aplicação usa BigDecimal e o banco usa DECIMAL para evitar arredondamentos de ponto flutuante.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Nova matrícula, Situação, Pagamento e Histórico. As situações são ATIVA, TRANCADA e CANCELADA. Cancelamento é definitivo. Uma nova contratação pode ser feita após cancelar. O sistema impede matrícula aberta duplicada e segundo pagamento do mesmo contrato. A data final é visível, mas não cancela automaticamente.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saldo do produto não é digitado na edição do cadastro. Um produto novo começa em zero. Toda alteração de saldo exige entrada ou saída, mantendo o histórico. O preço é uma referência de cadastro, não uma venda financeira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Demonstre uma entrada, depois uma saída e uma tentativa acima do saldo. Não se pode editar ou apagar movimentos pela interface. Se houver erro operacional, registre uma movimentação compensatória com motivo claro. A atualização e o histórico são confirmados juntos.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a recepção não gerencia contas ou altera a configuração de planos. A validação de perfil também ocorre no serviço. O administrador não pode desativar a própria conta nem remover seu próprio perfil. Ao editar, senha em branco mantém a senha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banco tem nove tabelas. Todas têm id como chave primária. A tabela matriculas liga aluno e plano. Pagamentos permite zero ou um registro por matrícula. Historico_matriculas guarda várias alterações. Usuarios identifica o responsável pelas operações. Consulte database/schema.sql e docs/modelo-banco.md para chaves e atributos completos.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 17 ou superior. A máquina da demonstração tem JDK 23. Swing fornece a interface desktop. JDBC liga o código ao H2 2.3.232. IntelliJ é o ambiente de desenvolvimento. Explique o fluxo de um formulário até a consulta ao banco, usando o código de matrícula.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estes pontos como desafios técnicos da solução. Não invente uma história pessoal sobre dificuldades que o grupo não vivenciou. Estoque: UPDATE condicional e transação. Matrícula: bloqueio do aluno para evitar duplicidade simultânea. Histórico: preço copiado para o contrato. Senhas: PBKDF2, salt e validação de perfil.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Foram executadas 43 verificações automáticas, todas aprovadas. São testes de serviço e integração JDBC, não automação de todos os cliques da interface. Evidência: docs/resultados-testes.md e src/test/java/br/com/pulso/SystemTest.java. Os casos manuais de demonstração estão em docs/requisitos-e-testes.md.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o sistema. Entre como administrador. Cadastre Carla Mendes, CPF 12345678909, telefone (47) 99999-1234 e carla@example.com, se ela ainda não estiver cadastrada. Contrate um plano, registre um pagamento, altere a situação e consulte o histórico. Depois registre entrada e saída de uma faixa elástica e tente uma saída maior que o saldo. Reabra o sistema para mostrar a persistência.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versão é local. Reforce os limites: pagamento único por contratação, validade consultável sem cancelamento automático, sem catraca, emissão fiscal ou backup automático. Os próximos passos são propostas de evolução, não funcionalidades implementadas. Finalize e abra espaço para as perguntas. Todos os integrantes devem conhecer o fluxo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cenário: Grupo 05 - Academia.pdf, fornecido pelo usuário. Telas e resultados: aplicativo Pulso e docs/resultados-testes.md. Cliente e dados fictícios. Fotografias geradas para o projeto com pessoas e ambientes fictícios. Prompts em docs/imagens-ficticias.md.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a5b4c401748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bda8f125744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cc1426a5c94d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3708dc5ae43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fd3673d5b45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304dd59854f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E450A3-D834-4917-A2EF-B69BE307DF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1C39F89-CB49-4806-A95F-885B5218C2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7E9DA7F-BA5F-4EFC-8FEA-F697279D72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6FCC88-489E-465A-A38B-638711080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FCEEDD-C01B-4959-BD7A-CDA07284EC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8D170F-AFEA-47FD-91FE-A08F32B36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ECF00A-45FA-4C95-BCD0-F43B95209B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61EBC9B-78FB-493C-869F-05510B4D9F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6DD169-4F90-453C-8A3C-C3BC4F190E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9BAE83-69CE-4680-9750-AA68EABDA2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584b5e101d404f" /><Relationship Type="http://schemas.openxmlformats.org/officeDocument/2006/relationships/slideLayout" Target="/ppt/slideLayouts/slideLayout1.xml" Id="Rcfbe4062587a46c2" /><Relationship Type="http://schemas.openxmlformats.org/officeDocument/2006/relationships/slideLayout" Target="/ppt/slideLayouts/slideLayout2.xml" Id="Rb5527edf022e40b2" /><Relationship Type="http://schemas.openxmlformats.org/officeDocument/2006/relationships/slideLayout" Target="/ppt/slideLayouts/slideLayout3.xml" Id="R44c454e285314593" /><Relationship Type="http://schemas.openxmlformats.org/officeDocument/2006/relationships/slideLayout" Target="/ppt/slideLayouts/slideLayout4.xml" Id="Rbe0d64942bf4493f" /><Relationship Type="http://schemas.openxmlformats.org/officeDocument/2006/relationships/slideLayout" Target="/ppt/slideLayouts/slideLayout5.xml" Id="Rf62f40ba677243a6" /><Relationship Type="http://schemas.openxmlformats.org/officeDocument/2006/relationships/slideLayout" Target="/ppt/slideLayouts/slideLayout6.xml" Id="Rfcc5ff39b74947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be4062587a46c2"/>
    <p:sldLayoutId xmlns:r="http://schemas.openxmlformats.org/officeDocument/2006/relationships" id="2147483650" r:id="Rb5527edf022e40b2"/>
    <p:sldLayoutId xmlns:r="http://schemas.openxmlformats.org/officeDocument/2006/relationships" id="2147483651" r:id="R44c454e285314593"/>
    <p:sldLayoutId xmlns:r="http://schemas.openxmlformats.org/officeDocument/2006/relationships" id="2147483652" r:id="Rbe0d64942bf4493f"/>
    <p:sldLayoutId xmlns:r="http://schemas.openxmlformats.org/officeDocument/2006/relationships" id="2147483653" r:id="Rf62f40ba677243a6"/>
    <p:sldLayoutId xmlns:r="http://schemas.openxmlformats.org/officeDocument/2006/relationships" id="2147483654" r:id="Rfcc5ff39b74947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f3ce7e9a154e23" /><Relationship Type="http://schemas.openxmlformats.org/officeDocument/2006/relationships/image" Target="/ppt/media/image.png" Id="Rb5093e64654f4d93" /><Relationship Type="http://schemas.openxmlformats.org/officeDocument/2006/relationships/image" Target="/ppt/media/image2.png" Id="R54710f6e45b94fdd" /><Relationship Type="http://schemas.openxmlformats.org/officeDocument/2006/relationships/notesSlide" Target="/ppt/notesSlides/notesSlide1.xml" Id="Re81cc07289e04a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96ae3236ad44ef" /><Relationship Type="http://schemas.openxmlformats.org/officeDocument/2006/relationships/notesSlide" Target="/ppt/notesSlides/notesSlide2.xml" Id="R56b5741261b643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b69be8ee47418a" /><Relationship Type="http://schemas.openxmlformats.org/officeDocument/2006/relationships/notesSlide" Target="/ppt/notesSlides/notesSlide3.xml" Id="Ree7d6a292fbb4e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967b2e12884f11" /><Relationship Type="http://schemas.openxmlformats.org/officeDocument/2006/relationships/image" Target="/ppt/media/image3.png" Id="Rba044df96b32486c" /><Relationship Type="http://schemas.openxmlformats.org/officeDocument/2006/relationships/notesSlide" Target="/ppt/notesSlides/notesSlide4.xml" Id="Rd89db408a83c41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e16a42f88d4a6c" /><Relationship Type="http://schemas.openxmlformats.org/officeDocument/2006/relationships/image" Target="/ppt/media/image4.png" Id="R88aa101fd38b4b81" /><Relationship Type="http://schemas.openxmlformats.org/officeDocument/2006/relationships/notesSlide" Target="/ppt/notesSlides/notesSlide5.xml" Id="R5e167e5a233b40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b839973cc4405" /><Relationship Type="http://schemas.openxmlformats.org/officeDocument/2006/relationships/image" Target="/ppt/media/image5.png" Id="R16b2836ad86b4739" /><Relationship Type="http://schemas.openxmlformats.org/officeDocument/2006/relationships/notesSlide" Target="/ppt/notesSlides/notesSlide6.xml" Id="R19e6e8006c974d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d3eee651c47db" /><Relationship Type="http://schemas.openxmlformats.org/officeDocument/2006/relationships/image" Target="/ppt/media/image6.png" Id="R83066992c77f40ea" /><Relationship Type="http://schemas.openxmlformats.org/officeDocument/2006/relationships/notesSlide" Target="/ppt/notesSlides/notesSlide7.xml" Id="R65b95ab7445c44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1169fce8a7487d" /><Relationship Type="http://schemas.openxmlformats.org/officeDocument/2006/relationships/image" Target="/ppt/media/image7.png" Id="Rcc00dc5acfd94ea4" /><Relationship Type="http://schemas.openxmlformats.org/officeDocument/2006/relationships/notesSlide" Target="/ppt/notesSlides/notesSlide8.xml" Id="Rfe660613c17441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723ff849e043f7" /><Relationship Type="http://schemas.openxmlformats.org/officeDocument/2006/relationships/image" Target="/ppt/media/image8.png" Id="R3fc34a3f18024a9a" /><Relationship Type="http://schemas.openxmlformats.org/officeDocument/2006/relationships/notesSlide" Target="/ppt/notesSlides/notesSlide9.xml" Id="R6e67256bedf145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ede6a999524ad5" /><Relationship Type="http://schemas.openxmlformats.org/officeDocument/2006/relationships/image" Target="/ppt/media/image9.png" Id="Rb6cc5b3c4dfe41ea" /><Relationship Type="http://schemas.openxmlformats.org/officeDocument/2006/relationships/notesSlide" Target="/ppt/notesSlides/notesSlide10.xml" Id="R3e06111c3cef40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a7f82a322b4c3e" /><Relationship Type="http://schemas.openxmlformats.org/officeDocument/2006/relationships/image" Target="/ppt/media/image10.png" Id="Rb4fc55c30b734518" /><Relationship Type="http://schemas.openxmlformats.org/officeDocument/2006/relationships/notesSlide" Target="/ppt/notesSlides/notesSlide11.xml" Id="R4da1bf483f2d4b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c73010e4574986" /><Relationship Type="http://schemas.openxmlformats.org/officeDocument/2006/relationships/image" Target="/ppt/media/image11.png" Id="Rc7fd1b5756bb4d36" /><Relationship Type="http://schemas.openxmlformats.org/officeDocument/2006/relationships/notesSlide" Target="/ppt/notesSlides/notesSlide12.xml" Id="Rccef3423ad0e47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f0857173164da4" /><Relationship Type="http://schemas.openxmlformats.org/officeDocument/2006/relationships/notesSlide" Target="/ppt/notesSlides/notesSlide13.xml" Id="Rc3f91582f75f42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6843c9aa049f6" /><Relationship Type="http://schemas.openxmlformats.org/officeDocument/2006/relationships/notesSlide" Target="/ppt/notesSlides/notesSlide14.xml" Id="R4d4bc28daf9641c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dc217333f443a3" /><Relationship Type="http://schemas.openxmlformats.org/officeDocument/2006/relationships/notesSlide" Target="/ppt/notesSlides/notesSlide15.xml" Id="R5a439617c73947c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c5fd1315a4992" /><Relationship Type="http://schemas.openxmlformats.org/officeDocument/2006/relationships/notesSlide" Target="/ppt/notesSlides/notesSlide16.xml" Id="R1843f3e01a3640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6c616cc0944d64" /><Relationship Type="http://schemas.openxmlformats.org/officeDocument/2006/relationships/notesSlide" Target="/ppt/notesSlides/notesSlide17.xml" Id="R87eee58ca9b848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739dc2e2dd45ff" /><Relationship Type="http://schemas.openxmlformats.org/officeDocument/2006/relationships/notesSlide" Target="/ppt/notesSlides/notesSlide18.xml" Id="Rc18f30c8cd8f4a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1B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40F3E-7B85-4A4A-A60F-D7667899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FF97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976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976A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D3FB1-DD87-432A-B6D5-7507186BB7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93e64654f4d93"/>
          <a:srcRect xmlns:a="http://schemas.openxmlformats.org/drawingml/2006/main" l="53500" t="0" r="1200" b="0"/>
          <a:stretch xmlns:a="http://schemas.openxmlformats.org/drawingml/2006/main"/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25C41-C3CF-4A08-A69F-E9373E6FC9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10f6e45b94fdd"/>
          <a:stretch xmlns:a="http://schemas.openxmlformats.org/drawingml/2006/main"/>
        </p:blipFill>
        <p:spPr>
          <a:xfrm xmlns:a="http://schemas.openxmlformats.org/drawingml/2006/main">
            <a:off x="495300" y="363384"/>
            <a:ext cx="4095750" cy="128300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3078E-A2A0-42C2-BA36-4F7C2FAA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5905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Gestão da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Academia Movimento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C6C47-F629-4315-AE8F-41512A04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5619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E1E4E9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E1E4E9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E1E4E9"/>
                </a:solidFill>
                <a:latin typeface="Calibri"/>
                <a:ea typeface="Calibri"/>
                <a:cs typeface="Calibri"/>
              </a:rPr>
              <a:t>Alunos e contratos.</a:t>
            </a:r>
          </a:p>
          <a:p xmlns:a="http://schemas.openxmlformats.org/drawingml/2006/main">
            <a:pPr>
              <a:defRPr sz="2400" b="0">
                <a:solidFill>
                  <a:srgbClr val="E1E4E9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E1E4E9"/>
                </a:solidFill>
                <a:latin typeface="Calibri"/>
                <a:ea typeface="Calibri"/>
                <a:cs typeface="Calibri"/>
              </a:rPr>
              <a:t>Estoque sob controle.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4D42D-3FE4-496D-828D-004D6E3A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97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976A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FF976A"/>
                </a:solidFill>
                <a:latin typeface="Calibri"/>
                <a:ea typeface="Calibri"/>
                <a:cs typeface="Calibri"/>
              </a:rPr>
              <a:t>Grupo 05</a:t>
            </a:r>
          </a:p>
        </p:txBody>
      </p:sp>
    </p:spTree>
    <p:extLst>
      <p:ext uri="{BB962C8B-B14F-4D97-AF65-F5344CB8AC3E}">
        <p14:creationId xmlns:p14="http://schemas.microsoft.com/office/powerpoint/2010/main" val="1416216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B2FB5-DD88-45B3-A4AA-5DFFF507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O atendimento da academia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87456-6073-4B5D-B65F-AC0A1225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31484-D8FD-440E-9192-621086A0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E5CCA-5AD5-46A0-B9AE-09FDE022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Academia Movimento, uma academia fictícia que precisa organizar suas operações.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DEA95-F7AB-4981-BB34-EFA95DAE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Necessidade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B6014-8AD7-4462-BD1F-959F692F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Consultar o aluno e sua contratação durante o atendimento.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3CBBA-99F6-4655-8892-3C090162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Problema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961D0-9A6F-45FD-9786-E75B8A57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Cadastros e controles separados dificultam a consulta e o acompanhamento.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55B62-A90F-41C9-B08A-B2DD6706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Proposta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EB3F5-9B94-4988-813A-E45567BB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Reunir essas informações e registrar cada entrada e saída de estoque.</a:t>
            </a:r>
          </a:p>
        </p:txBody>
      </p:sp>
    </p:spTree>
    <p:extLst>
      <p:ext uri="{BB962C8B-B14F-4D97-AF65-F5344CB8AC3E}">
        <p14:creationId xmlns:p14="http://schemas.microsoft.com/office/powerpoint/2010/main" val="15438009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4A33E-59DC-438D-B408-1861848B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Escopo e regras do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54007-6316-44A6-BABD-DE2FD6B0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4375C-137C-4D9B-AA9C-DA766694D2A5}"/>
              </a:ext>
            </a:extLst>
          </p:cNvPr>
          <p:cNvGraphicFramePr/>
          <p:nvPr/>
        </p:nvGraphicFramePr>
        <p:xfrm>
          <a:off xmlns:a="http://schemas.openxmlformats.org/drawingml/2006/main" x="552450" y="1457325"/>
          <a:ext xmlns:a="http://schemas.openxmlformats.org/drawingml/2006/main" cx="110871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86050"/>
                <a:gridCol w="8401050"/>
              </a:tblGrid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Operação</a:t>
                      </a:r>
                    </a:p>
                  </a:txBody>
                  <a:tcPr marL="91440" marR="91440" marT="45720" marB="45720">
                    <a:solidFill>
                      <a:srgbClr val="191B1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Regra adotada</a:t>
                      </a:r>
                    </a:p>
                  </a:txBody>
                  <a:tcPr marL="91440" marR="91440" marT="45720" marB="45720">
                    <a:solidFill>
                      <a:srgbClr val="191B1E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Alunos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CPF válido e único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Matrículas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Uma contratação aberta por aluno e plano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Pagamento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Um registro para o valor total contratado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Estoque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Saída limitada ao saldo disponível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</a:tr>
              <a:tr h="65722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Acesso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Permissões por perfil de usuário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ED3DD-2FD9-42DC-97F1-C273972D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07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Dados guardados em banco relacional local</a:t>
            </a:r>
          </a:p>
        </p:txBody>
      </p:sp>
    </p:spTree>
    <p:extLst>
      <p:ext uri="{BB962C8B-B14F-4D97-AF65-F5344CB8AC3E}">
        <p14:creationId xmlns:p14="http://schemas.microsoft.com/office/powerpoint/2010/main" val="13893659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66C1C-AB48-465E-903A-03194E96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Acesso ao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4A01E-2E77-4400-BF01-C83EF207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41062-AD6E-4B2F-9453-A4A6BCD5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A8D20-1F87-45B8-9CAC-F77BF2DE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Administrador e equipe da recepção.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F028C-D2DA-4837-A82D-F8FAF2EC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informa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A2A05-25CB-41AD-8CDD-EC676C02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Usuário e senha de uma conta ativa.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32ACB-642F-4A8D-9DC6-C11950C4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acontece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7B621-1764-47CB-8FF6-195D3A11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O perfil define as ações disponíveis nas outras telas.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6F020-FB0E-43D2-A5F7-1ADD793FD8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44df96b32486c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5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E37A5-682F-4507-885B-D7129177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Visão geral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5E4A1-BB89-4FDE-94F4-C099A09D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5BE69-79A5-4FF1-9DF8-58DC4FCC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CF85E-0E10-4101-BE73-740CBDA0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Equipe da academia.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0D6DC-9B53-4CC0-B735-1B24B0E6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mostra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95421-DCEE-401D-AEA6-19A9B017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Alunos, matrículas, pagamentos pendentes e reposição.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AAC3E-ACF5-431C-AE51-8E5CB7DE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Como ajuda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5033D-F316-40E3-AB4A-94AE4FC1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O alerta leva à consulta dos produtos e do estoque.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2FE55-DB28-43D3-9BD8-91C6E79D3D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a101fd38b4b81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774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1005F-796E-46C9-B130-EBC13C62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Cadastro e consulta de alunos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3BCE9-F277-43F1-BAE9-29C38292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7FB99-C7B2-4500-AC4D-4320027C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8F93D-1803-40EC-9971-B3BFE751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Administrador e recepção.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5A3EC-920B-40BE-A65B-569B4C5D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guarda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6C144-5967-409F-BEC0-378E2A0F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Nome, CPF, telefone, e-mail e situação do cadastro.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60095-C608-434F-9A92-E644C3C5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permite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64868-7E5E-45F8-AB01-562A3D5B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Buscar, cadastrar e editar. O aluno é vinculado à matrícula.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5F00D-D604-44FB-B868-1C23940EA2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2836ad86b4739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27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DCCB1-755B-43EA-8F10-D1357794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Modalidades oferecidas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224E9-618E-4307-8EDF-1E86E320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B9A78-2A6A-4519-9981-3EC4E859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C6E4D-1D0E-4CCB-8685-3EB3D482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Equipe consulta. O administrador altera.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A2E84-EF88-459E-A35F-49ED382C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guarda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2791E-C251-4CE8-ADC7-4439D292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Nome e descrição da atividade.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E2DB5-2B3C-4449-B0BC-F5EB6E42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Relação com planos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A5099-CD5E-4138-9A85-1DC8C8B0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Cada plano usa uma modalidade cadastrada.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3491E-A3E6-4D4E-8F55-F0081AC523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66992c77f40ea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029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CDF40-7FCA-4265-AF35-A97FBE92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Planos da academia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DAD2C-716D-4646-B976-88F29F37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70C77-EF05-46E9-BB7B-01F12A67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D26715-6583-4A44-82EA-835DB3F0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Equipe consulta. O administrador configura.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253BB-6894-4F26-87C1-1BEE5C56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01DF90-7BB4-482B-8400-0071302D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Modalidade, duração em meses e valor total.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863F8-ACB4-419D-80C6-000A9E9F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Na contratação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DAB1C-F354-4C78-87F4-C3D9C8FF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 matrícula copia o valor e calcula a validade.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E5FC7-A72F-454A-A4F9-EB81DFD134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0dc5acfd94ea4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412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03F65-3C93-414E-9CEE-430422B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Matrículas e pagamentos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94053-26AF-4774-8237-FB1EAEC1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54F7F-1BC6-4790-B649-40A2F066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E45E3-E4BB-4ECE-A4E1-03184AC0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Administrador e recepção.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25368-9C45-45AC-A737-09A2EE73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registra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814F2-9315-418C-88AE-14807E5C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Aluno, plano, datas, valor e situação.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2D11D-D61B-4715-82CE-A045AB89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permite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75317-2F74-4F12-B550-33CD5B44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Contratar, alterar situação, pagar e consultar histórico.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E5687-5A07-4370-9AB8-9A77F07FD9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34a3f18024a9a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5358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092A3-B9AD-438F-BD1F-F4DFBDE7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Produtos e saldo disponível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5C6DE-91D7-4B09-9525-FD89E9E2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B34DA-6F32-466E-AD57-DD07ECD7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75187-FDA4-437A-9066-BB8162D3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Equipe consulta e movimenta. Administrador cadastra.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7B5AB-E4CC-492A-B45E-3B7695A6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apresenta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8EA21-0F91-41F4-935C-90522A40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Produto, unidade, preço, saldo e mínimo.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D1156-E859-42FD-B1FB-34F7D927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Alerta de reposição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B27C4-44AB-453F-8A31-7DE8FED6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REPOR aparece quando saldo chega ao mínimo ou fica abaixo.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99293-3DA5-4640-BAF1-2569B00E51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c5b3c4dfe41ea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483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59668-7E9E-4719-9B7B-50A8DB4E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Histórico de movimentações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C18BF-B3FB-40C0-AB8F-153A1163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B8672-CC99-4C8F-8033-08055131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E2157-8531-457C-A9C5-F590592B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Administrador e recepção.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B88A2-CADB-4417-98FE-7110E9FE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registra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C72BB-A6A5-434B-9AE9-FDECDB6D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Produto, tipo, quantidade, motivo, data e responsável.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BC2ED-B437-48BE-AEA5-6EFFC51C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Como controla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36062-FD05-491F-B98F-C8D52687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Cada entrada ou saída atualiza o saldo na mesma transação.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CA4C7-FF04-44FF-B34F-29817E4DCF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c55c30b734518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099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07A2D-50E9-4813-A1B9-FAE92DC7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Usuários e permissões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94650-B6D5-40B7-B2C1-EB6698BE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2CA62F-EAC5-4639-A198-07332D25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Quem usa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C6289-939E-4C23-BEE2-694DA66E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1927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Apenas o administrador.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E8F8A-B23F-4B8D-A6DA-865415B1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que 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B339F-910B-4C10-9DF1-189023C9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Login, senha, perfil e conta ativa.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90566-8604-450A-8E81-E00489B2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No atendimento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31F79-1D21-4987-BCC3-49B9E5A8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2552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O atendente opera alunos, contratos e movimentações.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FD2FF-C179-4C51-8580-56AA09FB3C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d1b5756bb4d36"/>
          <a:stretch xmlns:a="http://schemas.openxmlformats.org/drawingml/2006/main"/>
        </p:blipFill>
        <p:spPr>
          <a:xfrm xmlns:a="http://schemas.openxmlformats.org/drawingml/2006/main">
            <a:off x="3601201" y="1343025"/>
            <a:ext cx="7828049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416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40990-DE85-4270-B35A-2607C1AE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Estrutura do banco de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E30C7-2C8D-4B37-8B24-F99AF28F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5DE69-5922-46FA-A1C2-6A562245B76A}"/>
              </a:ext>
            </a:extLst>
          </p:cNvPr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871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7125"/>
                <a:gridCol w="7419975"/>
              </a:tblGrid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Relacionamento</a:t>
                      </a:r>
                    </a:p>
                  </a:txBody>
                  <a:tcPr marL="91440" marR="91440" marT="45720" marB="45720">
                    <a:solidFill>
                      <a:srgbClr val="191B1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Como os dados se conectam</a:t>
                      </a:r>
                    </a:p>
                  </a:txBody>
                  <a:tcPr marL="91440" marR="91440" marT="45720" marB="45720">
                    <a:solidFill>
                      <a:srgbClr val="191B1E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Aluno e matrícula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Um aluno pode ter várias matrículas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Modalidade e plano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Uma modalidade pode ter vários planos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Plano e matrícula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Um plano pode ser contratado por vários alunos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Matrícula e histórico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Cada alteração gera um registro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Matrícula e pagamento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Zero ou um pagamento por contratação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Produto e movimento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Cada entrada ou saída pertence a um produto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73C7D-72AD-4692-B28E-646EA1EF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Usuários identificam quem registrou cada operação</a:t>
            </a:r>
          </a:p>
        </p:txBody>
      </p:sp>
    </p:spTree>
    <p:extLst>
      <p:ext uri="{BB962C8B-B14F-4D97-AF65-F5344CB8AC3E}">
        <p14:creationId xmlns:p14="http://schemas.microsoft.com/office/powerpoint/2010/main" val="16784752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B6B5B-1550-4879-9DC7-2B10D29F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Tecnologias e organização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3F0AA-BD5E-4102-B574-2B9446E5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1AE82-AACD-4497-929F-57B2C059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Java e Swing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14AB6-895F-4A83-A103-9C53098B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Interface desktop com tabelas, formulários e navegação entre telas.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FC08B-2F01-4D1E-9993-EBBE4C9B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JDBC e H2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95365-2932-4235-803A-60163C42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Consultas parametrizadas e banco relacional salvo no computador.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9B52D-D156-40C6-AE45-83F8AD80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IntelliJ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FD563-AF4D-446B-85DD-AA9F4027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Projeto organizado e biblioteca local para executar a demonstração.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5B6F7-6356-479A-9C81-DB12D7CD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Separação do código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6E111-9D77-4624-8BEB-87B4ABEA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 tela chama o serviço. O serviço valida e acessa o banco.</a:t>
            </a:r>
          </a:p>
        </p:txBody>
      </p:sp>
    </p:spTree>
    <p:extLst>
      <p:ext uri="{BB962C8B-B14F-4D97-AF65-F5344CB8AC3E}">
        <p14:creationId xmlns:p14="http://schemas.microsoft.com/office/powerpoint/2010/main" val="3698349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B27A6-EA2E-420B-90C9-19A30D4D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Cuidados de implementação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1F6FA-3BDD-4C25-B4F1-374E8A9C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2D16C-73A6-4F3C-8D29-8C33D6701E5D}"/>
              </a:ext>
            </a:extLst>
          </p:cNvPr>
          <p:cNvGraphicFramePr/>
          <p:nvPr/>
        </p:nvGraphicFramePr>
        <p:xfrm>
          <a:off xmlns:a="http://schemas.openxmlformats.org/drawingml/2006/main" x="552450" y="1524000"/>
          <a:ext xmlns:a="http://schemas.openxmlformats.org/drawingml/2006/main" cx="110871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09950"/>
                <a:gridCol w="7677150"/>
              </a:tblGrid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Ponto de atenção</a:t>
                      </a:r>
                    </a:p>
                  </a:txBody>
                  <a:tcPr marL="91440" marR="91440" marT="45720" marB="45720">
                    <a:solidFill>
                      <a:srgbClr val="191B1E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Decisão no sistema</a:t>
                      </a:r>
                    </a:p>
                  </a:txBody>
                  <a:tcPr marL="91440" marR="91440" marT="45720" marB="45720">
                    <a:solidFill>
                      <a:srgbClr val="191B1E"/>
                    </a:solidFill>
                  </a:tcPr>
                </a:tc>
              </a:tr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Saldo de estoque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Atualizar saldo e histórico na mesma transação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Duplicidade de matrícula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Conferir contratos abertos antes de gravar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</a:tr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Mudança do preço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Manter o valor original na contratação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Acesso da equipe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3272B"/>
                          </a:solidFill>
                          <a:latin typeface="Calibri"/>
                          <a:ea typeface="Calibri"/>
                          <a:cs typeface="Calibri"/>
                        </a:rPr>
                        <a:t>Conferir senha e permissão no serviço</a:t>
                      </a:r>
                    </a:p>
                  </a:txBody>
                  <a:tcPr marL="91440" marR="91440" marT="45720" marB="45720">
                    <a:solidFill>
                      <a:srgbClr val="EEF0F3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232E4-8741-4A44-B211-8C24F600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Essas regras também entram nos testes</a:t>
            </a:r>
          </a:p>
        </p:txBody>
      </p:sp>
    </p:spTree>
    <p:extLst>
      <p:ext uri="{BB962C8B-B14F-4D97-AF65-F5344CB8AC3E}">
        <p14:creationId xmlns:p14="http://schemas.microsoft.com/office/powerpoint/2010/main" val="20160752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C6C9B-D0FC-4419-8B77-442C513E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Testes e 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DFB20-744B-4CD5-B52A-4ED90B68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D56C6-ED68-416D-AED7-84C04F4C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0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0500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10500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9BAAD-F391-4E9D-A6CB-99FD362F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verificações passaram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A2C40-3B29-4DF6-9C97-DBB9A141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667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Regras do serviço e integração com o banco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DC7B0-AF36-47A5-BDB6-579E2605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14475"/>
            <a:ext cx="5238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Acesso e permissões</a:t>
            </a:r>
          </a:p>
          <a:p xmlns:a="http://schemas.openxmlformats.org/drawingml/2006/main">
            <a:pPr>
              <a:defRPr sz="217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Cadastros e duplicidades</a:t>
            </a:r>
          </a:p>
          <a:p xmlns:a="http://schemas.openxmlformats.org/drawingml/2006/main">
            <a:pPr>
              <a:defRPr sz="217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Situação e pagamento</a:t>
            </a:r>
          </a:p>
          <a:p xmlns:a="http://schemas.openxmlformats.org/drawingml/2006/main">
            <a:pPr>
              <a:defRPr sz="217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Saldo e histórico</a:t>
            </a:r>
          </a:p>
          <a:p xmlns:a="http://schemas.openxmlformats.org/drawingml/2006/main">
            <a:pPr>
              <a:defRPr sz="217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Concorrência e rollback</a:t>
            </a:r>
          </a:p>
          <a:p xmlns:a="http://schemas.openxmlformats.org/drawingml/2006/main">
            <a:pPr>
              <a:defRPr sz="217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Persistência após reabrir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F479B-C589-4BC7-BB5D-9998C081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O roteiro manual orienta o ensaio no aplicativo</a:t>
            </a:r>
          </a:p>
        </p:txBody>
      </p:sp>
    </p:spTree>
    <p:extLst>
      <p:ext uri="{BB962C8B-B14F-4D97-AF65-F5344CB8AC3E}">
        <p14:creationId xmlns:p14="http://schemas.microsoft.com/office/powerpoint/2010/main" val="12994363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2A41F-3FFE-458B-9DF8-66755FEA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Demonstração do atendimento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C1F0A-6A44-4FEC-9FBC-CAFD2314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288E8-0653-44F8-A80E-C5E851CD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F77EC-277F-48CF-ACE3-715059EC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668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Entrar e consultar um aluno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42B8D-2F56-4C14-BB52-56A478D6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622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B4DCE-21E0-4971-9EC3-6A017774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479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Registrar matrícula e pagamento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30AE7-CCD3-4077-B771-40B2BB48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45D51-83C1-4E77-8A27-1617BEBF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2902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Alterar situação e conferir histórico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9D0CE-593E-447C-BF5F-498BF425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2437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322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0E6C5-B877-4995-841C-236268D9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101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Movimentar estoque e testar o limite do saldo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AE104-4E57-4083-B11C-593EE2C9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Fluxo completo no aplicativo aberto</a:t>
            </a:r>
          </a:p>
        </p:txBody>
      </p:sp>
    </p:spTree>
    <p:extLst>
      <p:ext uri="{BB962C8B-B14F-4D97-AF65-F5344CB8AC3E}">
        <p14:creationId xmlns:p14="http://schemas.microsoft.com/office/powerpoint/2010/main" val="17571770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D9B0A-4396-4578-AAAF-B6BE23A3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Entrega e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DB775-EE1A-430A-B692-368EEC75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87E85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87E85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BA417-9668-4469-8519-883246DF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Nesta versão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36FBE-4CA8-47F8-83EE-D76D3B70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Cadastro de alunos, contratação de planos e controle de estoque com histórico.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D9839-B3D5-4E9B-A1A5-0FA8AC9A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Acompanhamento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0DB6C-4D95-40C3-BBB6-F86F3CFF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Situação, pagamento da contratação e alertas de reposição.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032F4-2E27-4A64-AF68-3CDA06C8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Limites do escopo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A6633-F06A-4C58-9587-8DE43A55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Execução local, pagamento único por contrato e conferência manual de validade.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257F7-136A-43E6-AD16-019E1619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7481E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B7481E"/>
                </a:solidFill>
                <a:latin typeface="Calibri"/>
                <a:ea typeface="Calibri"/>
                <a:cs typeface="Calibri"/>
              </a:rPr>
              <a:t>Possíveis evoluções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2707F-BCA8-4CE4-9CBC-6F3555B0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272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3272B"/>
                </a:solidFill>
                <a:latin typeface="Calibri"/>
                <a:ea typeface="Calibri"/>
                <a:cs typeface="Calibri"/>
              </a:rPr>
              <a:t>Cobranças recorrentes, backup automático e integração com a catraca.</a:t>
            </a:r>
          </a:p>
        </p:txBody>
      </p:sp>
    </p:spTree>
    <p:extLst>
      <p:ext uri="{BB962C8B-B14F-4D97-AF65-F5344CB8AC3E}">
        <p14:creationId xmlns:p14="http://schemas.microsoft.com/office/powerpoint/2010/main" val="12910112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2026-10-09T12:29:34.3540000Z</dcterms:created>
  <dcterms:modified xsi:type="dcterms:W3CDTF">2026-10-09T12:29:34.3540000Z</dcterms:modified>
</coreProperties>
</file>