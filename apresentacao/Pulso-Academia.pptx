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e3a50cc00994714" /><Relationship Type="http://schemas.openxmlformats.org/officeDocument/2006/relationships/extended-properties" Target="/docProps/app.xml" Id="R288b2fd259f94c69" /><Relationship Type="http://schemas.openxmlformats.org/officeDocument/2006/relationships/officeDocument" Target="/ppt/presentation.xml" Id="Rdf852c48f37f4ac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d35564159fe4dc3"/>
  </p:sldMasterIdLst>
  <p:notesMasterIdLst>
    <p:notesMasterId xmlns:r="http://schemas.openxmlformats.org/officeDocument/2006/relationships" r:id="R7ac8609f52dc478b"/>
  </p:notesMasterIdLst>
  <p:sldIdLst>
    <p:sldId xmlns:r="http://schemas.openxmlformats.org/officeDocument/2006/relationships" id="256" r:id="R2c47ee0ba77d4609"/>
    <p:sldId xmlns:r="http://schemas.openxmlformats.org/officeDocument/2006/relationships" id="257" r:id="Rd31953796cf4416e"/>
    <p:sldId xmlns:r="http://schemas.openxmlformats.org/officeDocument/2006/relationships" id="258" r:id="Re16c40e602b4434e"/>
    <p:sldId xmlns:r="http://schemas.openxmlformats.org/officeDocument/2006/relationships" id="259" r:id="R282ffe5dbe244512"/>
    <p:sldId xmlns:r="http://schemas.openxmlformats.org/officeDocument/2006/relationships" id="260" r:id="R95228b6a7caf4c19"/>
    <p:sldId xmlns:r="http://schemas.openxmlformats.org/officeDocument/2006/relationships" id="261" r:id="Reef804624dc446c2"/>
    <p:sldId xmlns:r="http://schemas.openxmlformats.org/officeDocument/2006/relationships" id="262" r:id="R2f0b0f230bc34d6d"/>
    <p:sldId xmlns:r="http://schemas.openxmlformats.org/officeDocument/2006/relationships" id="263" r:id="R7309dca99c0e4bd3"/>
    <p:sldId xmlns:r="http://schemas.openxmlformats.org/officeDocument/2006/relationships" id="264" r:id="R4f9c11567e06498f"/>
    <p:sldId xmlns:r="http://schemas.openxmlformats.org/officeDocument/2006/relationships" id="265" r:id="Rfd8cfa55a2654512"/>
    <p:sldId xmlns:r="http://schemas.openxmlformats.org/officeDocument/2006/relationships" id="266" r:id="Rd42875d4612243de"/>
    <p:sldId xmlns:r="http://schemas.openxmlformats.org/officeDocument/2006/relationships" id="267" r:id="R063f04b188d2473e"/>
    <p:sldId xmlns:r="http://schemas.openxmlformats.org/officeDocument/2006/relationships" id="268" r:id="R98a87d0839e84ff3"/>
    <p:sldId xmlns:r="http://schemas.openxmlformats.org/officeDocument/2006/relationships" id="269" r:id="Ra9253c6b7e464a6b"/>
    <p:sldId xmlns:r="http://schemas.openxmlformats.org/officeDocument/2006/relationships" id="270" r:id="R462e8099bc4642f4"/>
    <p:sldId xmlns:r="http://schemas.openxmlformats.org/officeDocument/2006/relationships" id="271" r:id="R56a48fe944034050"/>
    <p:sldId xmlns:r="http://schemas.openxmlformats.org/officeDocument/2006/relationships" id="272" r:id="Reeb3b1fff1244ff3"/>
    <p:sldId xmlns:r="http://schemas.openxmlformats.org/officeDocument/2006/relationships" id="273" r:id="R81dc422ced614db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6933a9c3bea4327" /><Relationship Type="http://schemas.openxmlformats.org/officeDocument/2006/relationships/slideMaster" Target="/ppt/slideMasters/slideMaster1.xml" Id="R2d35564159fe4dc3" /><Relationship Type="http://schemas.openxmlformats.org/officeDocument/2006/relationships/notesMaster" Target="/ppt/notesMasters/notesMaster1.xml" Id="R7ac8609f52dc478b" /><Relationship Type="http://schemas.openxmlformats.org/officeDocument/2006/relationships/presProps" Target="/ppt/presProps.xml" Id="Rf16e569f510b43d6" /><Relationship Type="http://schemas.openxmlformats.org/officeDocument/2006/relationships/tableStyles" Target="/ppt/tableStyles.xml" Id="R5da412ca3bea41b3" /><Relationship Type="http://schemas.openxmlformats.org/officeDocument/2006/relationships/slide" Target="/ppt/slides/slide1.xml" Id="R2c47ee0ba77d4609" /><Relationship Type="http://schemas.openxmlformats.org/officeDocument/2006/relationships/slide" Target="/ppt/slides/slide2.xml" Id="Rd31953796cf4416e" /><Relationship Type="http://schemas.openxmlformats.org/officeDocument/2006/relationships/slide" Target="/ppt/slides/slide3.xml" Id="Re16c40e602b4434e" /><Relationship Type="http://schemas.openxmlformats.org/officeDocument/2006/relationships/slide" Target="/ppt/slides/slide4.xml" Id="R282ffe5dbe244512" /><Relationship Type="http://schemas.openxmlformats.org/officeDocument/2006/relationships/slide" Target="/ppt/slides/slide5.xml" Id="R95228b6a7caf4c19" /><Relationship Type="http://schemas.openxmlformats.org/officeDocument/2006/relationships/slide" Target="/ppt/slides/slide6.xml" Id="Reef804624dc446c2" /><Relationship Type="http://schemas.openxmlformats.org/officeDocument/2006/relationships/slide" Target="/ppt/slides/slide7.xml" Id="R2f0b0f230bc34d6d" /><Relationship Type="http://schemas.openxmlformats.org/officeDocument/2006/relationships/slide" Target="/ppt/slides/slide8.xml" Id="R7309dca99c0e4bd3" /><Relationship Type="http://schemas.openxmlformats.org/officeDocument/2006/relationships/slide" Target="/ppt/slides/slide9.xml" Id="R4f9c11567e06498f" /><Relationship Type="http://schemas.openxmlformats.org/officeDocument/2006/relationships/slide" Target="/ppt/slides/slide10.xml" Id="Rfd8cfa55a2654512" /><Relationship Type="http://schemas.openxmlformats.org/officeDocument/2006/relationships/slide" Target="/ppt/slides/slide11.xml" Id="Rd42875d4612243de" /><Relationship Type="http://schemas.openxmlformats.org/officeDocument/2006/relationships/slide" Target="/ppt/slides/slide12.xml" Id="R063f04b188d2473e" /><Relationship Type="http://schemas.openxmlformats.org/officeDocument/2006/relationships/slide" Target="/ppt/slides/slide13.xml" Id="R98a87d0839e84ff3" /><Relationship Type="http://schemas.openxmlformats.org/officeDocument/2006/relationships/slide" Target="/ppt/slides/slide14.xml" Id="Ra9253c6b7e464a6b" /><Relationship Type="http://schemas.openxmlformats.org/officeDocument/2006/relationships/slide" Target="/ppt/slides/slide15.xml" Id="R462e8099bc4642f4" /><Relationship Type="http://schemas.openxmlformats.org/officeDocument/2006/relationships/slide" Target="/ppt/slides/slide16.xml" Id="R56a48fe944034050" /><Relationship Type="http://schemas.openxmlformats.org/officeDocument/2006/relationships/slide" Target="/ppt/slides/slide17.xml" Id="Reeb3b1fff1244ff3" /><Relationship Type="http://schemas.openxmlformats.org/officeDocument/2006/relationships/slide" Target="/ppt/slides/slide18.xml" Id="R81dc422ced614db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ff2d4ff934b49d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091d9d6b5664c42" /><Relationship Type="http://schemas.openxmlformats.org/officeDocument/2006/relationships/notesMaster" Target="/ppt/notesMasters/notesMaster1.xml" Id="R33159e0b1fc54ab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c20dd492b7b4c1e" /><Relationship Type="http://schemas.openxmlformats.org/officeDocument/2006/relationships/notesMaster" Target="/ppt/notesMasters/notesMaster1.xml" Id="R90b89b970c4b46c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2b1ca0733874cd6" /><Relationship Type="http://schemas.openxmlformats.org/officeDocument/2006/relationships/notesMaster" Target="/ppt/notesMasters/notesMaster1.xml" Id="R9b20e75c28204a8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349ee40233d4880" /><Relationship Type="http://schemas.openxmlformats.org/officeDocument/2006/relationships/notesMaster" Target="/ppt/notesMasters/notesMaster1.xml" Id="Rbb273d31eec24dd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f78d1b5cb384cf2" /><Relationship Type="http://schemas.openxmlformats.org/officeDocument/2006/relationships/notesMaster" Target="/ppt/notesMasters/notesMaster1.xml" Id="Rd1ef1a1601d046e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96c260bf7d0449e" /><Relationship Type="http://schemas.openxmlformats.org/officeDocument/2006/relationships/notesMaster" Target="/ppt/notesMasters/notesMaster1.xml" Id="R164436bfd2bd4fe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23f5aab3af64899" /><Relationship Type="http://schemas.openxmlformats.org/officeDocument/2006/relationships/notesMaster" Target="/ppt/notesMasters/notesMaster1.xml" Id="Rb6d9be992822436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ba65d66553d4e2f" /><Relationship Type="http://schemas.openxmlformats.org/officeDocument/2006/relationships/notesMaster" Target="/ppt/notesMasters/notesMaster1.xml" Id="Rf5fd3d342044468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925c882e8614ca5" /><Relationship Type="http://schemas.openxmlformats.org/officeDocument/2006/relationships/notesMaster" Target="/ppt/notesMasters/notesMaster1.xml" Id="Rae6a1c4f3a2b4c2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9b47ccaf29441d4" /><Relationship Type="http://schemas.openxmlformats.org/officeDocument/2006/relationships/notesMaster" Target="/ppt/notesMasters/notesMaster1.xml" Id="R6a7bfc218d654a4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90efdb1b27844a9" /><Relationship Type="http://schemas.openxmlformats.org/officeDocument/2006/relationships/notesMaster" Target="/ppt/notesMasters/notesMaster1.xml" Id="Rd682b4acaffc409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64d213a8210442e" /><Relationship Type="http://schemas.openxmlformats.org/officeDocument/2006/relationships/notesMaster" Target="/ppt/notesMasters/notesMaster1.xml" Id="R2a8429d7e263496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bad34415d23439e" /><Relationship Type="http://schemas.openxmlformats.org/officeDocument/2006/relationships/notesMaster" Target="/ppt/notesMasters/notesMaster1.xml" Id="R6fc2287ced94477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96d4bd3efa1484c" /><Relationship Type="http://schemas.openxmlformats.org/officeDocument/2006/relationships/notesMaster" Target="/ppt/notesMasters/notesMaster1.xml" Id="Rfdc0dfa10cbc430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225babe6d624239" /><Relationship Type="http://schemas.openxmlformats.org/officeDocument/2006/relationships/notesMaster" Target="/ppt/notesMasters/notesMaster1.xml" Id="Rd71c5da41acf45b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e511b9279ae4446" /><Relationship Type="http://schemas.openxmlformats.org/officeDocument/2006/relationships/notesMaster" Target="/ppt/notesMasters/notesMaster1.xml" Id="Rc6d81ea970ca440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cde6410b7744ee6" /><Relationship Type="http://schemas.openxmlformats.org/officeDocument/2006/relationships/notesMaster" Target="/ppt/notesMasters/notesMaster1.xml" Id="R5f3bedc48eb4489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a7c36048e9642d9" /><Relationship Type="http://schemas.openxmlformats.org/officeDocument/2006/relationships/notesMaster" Target="/ppt/notesMasters/notesMaster1.xml" Id="R12584c0ba9c34d5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Apresente o Pulso, o cliente fictício e os nomes dos integrantes do Grupo 05. O sistema reúne o atendimento dos alunos e o controle dos materiais da academia.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 do cenário: Grupo 05 - Academia.pdf, fornecido pelo usuário. Telas e resultados: aplicativo Pulso e docs/resultados-testes.md. Cliente e dados fictícios.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cenário descreve informações descentralizadas. Explique com uma situação simples: a recepção precisa consultar o aluno e sua matrícula, enquanto a equipe acompanha os materiais. Não atribua estes problemas a uma academia real.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 do cenário: Grupo 05 - Academia.pdf, fornecido pelo usuário. Telas e resultados: aplicativo Pulso e docs/resultados-testes.md. Cliente e dados fictícios.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Explique que são regras adotadas para esta versão. O preço é o valor total do plano, não uma mensalidade recorrente. Trancamento altera a situação sem estender a validade. O administrador configura o sistema e a recepção realiza atendimentos.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 do cenário: Grupo 05 - Academia.pdf, fornecido pelo usuário. Telas e resultados: aplicativo Pulso e docs/resultados-testes.md. Cliente e dados fictícios.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Mostre o acesso com uma conta válida e explique que a senha é conferida por hash. Credenciais para a demonstração: admin / Admin@123 e recepcao / Recepcao@123. Mensagens de erro não identificam qual campo estava incorreto.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 do cenário: Grupo 05 - Academia.pdf, fornecido pelo usuário. Telas e resultados: aplicativo Pulso e docs/resultados-testes.md. Cliente e dados fictícios.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Explique a diferença entre aluno ativo e matrícula ativa. Uma matrícula pode estar ativa e com pagamento pendente. Os números da imagem são registros fictícios de demonstração, não indicadores de uma academia real. O alerta aparece quando saldo é menor ou igual ao mínimo.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 do cenário: Grupo 05 - Academia.pdf, fornecido pelo usuário. Telas e resultados: aplicativo Pulso e docs/resultados-testes.md. Cliente e dados fictícios.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Demonstre a pesquisa e um cadastro. O serviço valida CPF, duplicidade, telefone e e-mail. Um aluno com matrícula aberta não pode ser inativado. Inativar preserva seus registros. Não existe botão para apagar o histórico do aluno.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 do cenário: Grupo 05 - Academia.pdf, fornecido pelo usuário. Telas e resultados: aplicativo Pulso e docs/resultados-testes.md. Cliente e dados fictícios.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modalidade representa a atividade, como musculação, funcional ou pilates. Esta tela não gerencia horários nem turmas. Um plano precisa apontar para uma modalidade existente. Mostre a relação com a tela seguinte.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 do cenário: Grupo 05 - Academia.pdf, fornecido pelo usuário. Telas e resultados: aplicativo Pulso e docs/resultados-testes.md. Cliente e dados fictícios.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Deixe claro que o valor é total para o período do plano. A alteração de um preço não modifica matrículas antigas. A aplicação usa BigDecimal e o banco usa DECIMAL para evitar arredondamentos de ponto flutuante.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 do cenário: Grupo 05 - Academia.pdf, fornecido pelo usuário. Telas e resultados: aplicativo Pulso e docs/resultados-testes.md. Cliente e dados fictícios.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Mostre Nova matrícula, Situação, Pagamento e Histórico. As situações são ATIVA, TRANCADA e CANCELADA. Cancelamento é definitivo. Uma nova contratação pode ser feita após cancelar. O sistema impede matrícula aberta duplicada e segundo pagamento do mesmo contrato. A data final é visível, mas não cancela automaticamente.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 do cenário: Grupo 05 - Academia.pdf, fornecido pelo usuário. Telas e resultados: aplicativo Pulso e docs/resultados-testes.md. Cliente e dados fictícios.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saldo do produto não é digitado na edição do cadastro. Um produto novo começa em zero. Toda alteração de saldo exige entrada ou saída, mantendo o histórico. O preço é uma referência de cadastro, não uma venda financeira completa.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 do cenário: Grupo 05 - Academia.pdf, fornecido pelo usuário. Telas e resultados: aplicativo Pulso e docs/resultados-testes.md. Cliente e dados fictícios.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Demonstre uma entrada, depois uma saída e uma tentativa acima do saldo. Não se pode editar ou apagar movimentos pela interface. Se houver erro operacional, registre uma movimentação compensatória com motivo claro. A atualização e o histórico são confirmados juntos.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 do cenário: Grupo 05 - Academia.pdf, fornecido pelo usuário. Telas e resultados: aplicativo Pulso e docs/resultados-testes.md. Cliente e dados fictícios.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Mostre que a recepção não gerencia contas ou altera a configuração de planos. A validação de perfil também ocorre no serviço. O administrador não pode desativar a própria conta nem remover seu próprio perfil. Ao editar, senha em branco mantém a senha anterior.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 do cenário: Grupo 05 - Academia.pdf, fornecido pelo usuário. Telas e resultados: aplicativo Pulso e docs/resultados-testes.md. Cliente e dados fictícios.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banco tem nove tabelas. Todas têm id como chave primária. A tabela matriculas liga aluno e plano. Pagamentos permite zero ou um registro por matrícula. Historico_matriculas guarda várias alterações. Usuarios identifica o responsável pelas operações. Consulte database/schema.sql e docs/modelo-banco.md para chaves e atributos completos.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 do cenário: Grupo 05 - Academia.pdf, fornecido pelo usuário. Telas e resultados: aplicativo Pulso e docs/resultados-testes.md. Cliente e dados fictícios.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Java 17 ou superior. A máquina da demonstração tem JDK 23. Swing fornece a interface desktop. JDBC liga o código ao H2 2.3.232. IntelliJ é o ambiente de desenvolvimento. Explique o fluxo de um formulário até a consulta ao banco, usando o código de matrícula.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 do cenário: Grupo 05 - Academia.pdf, fornecido pelo usuário. Telas e resultados: aplicativo Pulso e docs/resultados-testes.md. Cliente e dados fictícios.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Apresente estes pontos como desafios técnicos da solução. Não invente uma história pessoal sobre dificuldades que o grupo não vivenciou. Estoque: UPDATE condicional e transação. Matrícula: bloqueio do aluno para evitar duplicidade simultânea. Histórico: preço copiado para o contrato. Senhas: PBKDF2, salt e validação de perfil.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 do cenário: Grupo 05 - Academia.pdf, fornecido pelo usuário. Telas e resultados: aplicativo Pulso e docs/resultados-testes.md. Cliente e dados fictícios.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Foram executadas 43 verificações automáticas, todas aprovadas. São testes de serviço e integração JDBC, não automação de todos os cliques da interface. Evidência: docs/resultados-testes.md e src/test/java/br/com/pulso/SystemTest.java. Os casos manuais de demonstração estão em docs/requisitos-e-testes.md.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 do cenário: Grupo 05 - Academia.pdf, fornecido pelo usuário. Telas e resultados: aplicativo Pulso e docs/resultados-testes.md. Cliente e dados fictícios.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Abra o sistema. Entre como administrador. Cadastre Carla Mendes, CPF 12345678909, telefone (47) 99999-1234 e carla@example.com, se ela ainda não estiver cadastrada. Contrate um plano, registre um pagamento, altere a situação e consulte o histórico. Depois registre entrada e saída de uma faixa elástica e tente uma saída maior que o saldo. Reabra o sistema para mostrar a persistência.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 do cenário: Grupo 05 - Academia.pdf, fornecido pelo usuário. Telas e resultados: aplicativo Pulso e docs/resultados-testes.md. Cliente e dados fictícios.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versão é local. Reforce os limites: pagamento único por contratação, validade consultável sem cancelamento automático, sem catraca, emissão fiscal ou backup automático. Os próximos passos são propostas de evolução, não funcionalidades implementadas. Finalize e abra espaço para as perguntas. Todos os integrantes devem conhecer o fluxo geral.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 do cenário: Grupo 05 - Academia.pdf, fornecido pelo usuário. Telas e resultados: aplicativo Pulso e docs/resultados-testes.md. Cliente e dados fictícios.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5e950684f74e6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1056c6f05d400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ac8abf0efe45d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a1f0e4d74a4db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49b0307a8446f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a309521aee4a0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873351E-9E3A-4B3D-A818-7A10D0E686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96A27AA-1BED-40E7-9F91-C4B79E5C14D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8ECEEDC-B231-4B86-8E02-64D5DB9C2F8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A0A1042-5A01-42EC-AAEF-456A5B07187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167DC42-DFE1-46E9-9648-8760EE0FFC1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2CDD7FA-50B2-48F9-985E-B438EE709C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E220B61-08EF-4928-AD08-43A715CFE0E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F0016D2-ECB9-4E39-81B6-208B944345E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CA955D0-916B-4AC0-9413-11A45E8AAED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4936048-A770-49EB-9E1B-816E006DA80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817db7c10794096" /><Relationship Type="http://schemas.openxmlformats.org/officeDocument/2006/relationships/slideLayout" Target="/ppt/slideLayouts/slideLayout1.xml" Id="R646f5f4b84f34f82" /><Relationship Type="http://schemas.openxmlformats.org/officeDocument/2006/relationships/slideLayout" Target="/ppt/slideLayouts/slideLayout2.xml" Id="R0dc78f1de3464daa" /><Relationship Type="http://schemas.openxmlformats.org/officeDocument/2006/relationships/slideLayout" Target="/ppt/slideLayouts/slideLayout3.xml" Id="Rfac63ea11e5a44d8" /><Relationship Type="http://schemas.openxmlformats.org/officeDocument/2006/relationships/slideLayout" Target="/ppt/slideLayouts/slideLayout4.xml" Id="R5dc3e60234694c12" /><Relationship Type="http://schemas.openxmlformats.org/officeDocument/2006/relationships/slideLayout" Target="/ppt/slideLayouts/slideLayout5.xml" Id="R1fbc7d72bfa84a18" /><Relationship Type="http://schemas.openxmlformats.org/officeDocument/2006/relationships/slideLayout" Target="/ppt/slideLayouts/slideLayout6.xml" Id="R60ae121847434ff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46f5f4b84f34f82"/>
    <p:sldLayoutId xmlns:r="http://schemas.openxmlformats.org/officeDocument/2006/relationships" id="2147483650" r:id="R0dc78f1de3464daa"/>
    <p:sldLayoutId xmlns:r="http://schemas.openxmlformats.org/officeDocument/2006/relationships" id="2147483651" r:id="Rfac63ea11e5a44d8"/>
    <p:sldLayoutId xmlns:r="http://schemas.openxmlformats.org/officeDocument/2006/relationships" id="2147483652" r:id="R5dc3e60234694c12"/>
    <p:sldLayoutId xmlns:r="http://schemas.openxmlformats.org/officeDocument/2006/relationships" id="2147483653" r:id="R1fbc7d72bfa84a18"/>
    <p:sldLayoutId xmlns:r="http://schemas.openxmlformats.org/officeDocument/2006/relationships" id="2147483654" r:id="R60ae121847434ff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61ec8a7726d4454" /><Relationship Type="http://schemas.openxmlformats.org/officeDocument/2006/relationships/notesSlide" Target="/ppt/notesSlides/notesSlide1.xml" Id="Rdd40b81af21c47d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e63e9a993274388" /><Relationship Type="http://schemas.openxmlformats.org/officeDocument/2006/relationships/notesSlide" Target="/ppt/notesSlides/notesSlide2.xml" Id="Rcb6ebedca7eb451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ed6ef618b174388" /><Relationship Type="http://schemas.openxmlformats.org/officeDocument/2006/relationships/notesSlide" Target="/ppt/notesSlides/notesSlide3.xml" Id="R0285ef9a2773402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ad09bc5f59c4719" /><Relationship Type="http://schemas.openxmlformats.org/officeDocument/2006/relationships/image" Target="/ppt/media/image.png" Id="R46da3f0e90594e84" /><Relationship Type="http://schemas.openxmlformats.org/officeDocument/2006/relationships/notesSlide" Target="/ppt/notesSlides/notesSlide4.xml" Id="Ra70adbdd4f67453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ceac3342cc6476a" /><Relationship Type="http://schemas.openxmlformats.org/officeDocument/2006/relationships/image" Target="/ppt/media/image2.png" Id="Rbb14360fd5044fa8" /><Relationship Type="http://schemas.openxmlformats.org/officeDocument/2006/relationships/notesSlide" Target="/ppt/notesSlides/notesSlide5.xml" Id="R1844d798f7334c2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1185cc97334336" /><Relationship Type="http://schemas.openxmlformats.org/officeDocument/2006/relationships/image" Target="/ppt/media/image3.png" Id="R9e677dacc0364dcb" /><Relationship Type="http://schemas.openxmlformats.org/officeDocument/2006/relationships/notesSlide" Target="/ppt/notesSlides/notesSlide6.xml" Id="Racddfe16419d4ec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bf23c588e546e6" /><Relationship Type="http://schemas.openxmlformats.org/officeDocument/2006/relationships/image" Target="/ppt/media/image4.png" Id="R45c43ba482954077" /><Relationship Type="http://schemas.openxmlformats.org/officeDocument/2006/relationships/notesSlide" Target="/ppt/notesSlides/notesSlide7.xml" Id="R9194abaf2dfe424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5ca8ec39b5432b" /><Relationship Type="http://schemas.openxmlformats.org/officeDocument/2006/relationships/image" Target="/ppt/media/image5.png" Id="R127e784b4f794eee" /><Relationship Type="http://schemas.openxmlformats.org/officeDocument/2006/relationships/notesSlide" Target="/ppt/notesSlides/notesSlide8.xml" Id="R5ec437867f17465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3aed02c82fe4621" /><Relationship Type="http://schemas.openxmlformats.org/officeDocument/2006/relationships/image" Target="/ppt/media/image6.png" Id="R142f5adabdb74a11" /><Relationship Type="http://schemas.openxmlformats.org/officeDocument/2006/relationships/notesSlide" Target="/ppt/notesSlides/notesSlide9.xml" Id="Rb4283aa194a2497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6539b17fb5d4ffd" /><Relationship Type="http://schemas.openxmlformats.org/officeDocument/2006/relationships/image" Target="/ppt/media/image7.png" Id="R59b13ab824554c6e" /><Relationship Type="http://schemas.openxmlformats.org/officeDocument/2006/relationships/notesSlide" Target="/ppt/notesSlides/notesSlide10.xml" Id="R0fdd7873787b4bd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aa6e45ae9554a33" /><Relationship Type="http://schemas.openxmlformats.org/officeDocument/2006/relationships/image" Target="/ppt/media/image8.png" Id="R7afd98f6ed7f409c" /><Relationship Type="http://schemas.openxmlformats.org/officeDocument/2006/relationships/notesSlide" Target="/ppt/notesSlides/notesSlide11.xml" Id="R464a639b5dba4bf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8bc3eecc884476" /><Relationship Type="http://schemas.openxmlformats.org/officeDocument/2006/relationships/image" Target="/ppt/media/image9.png" Id="Rcf0c1df7bd284fa7" /><Relationship Type="http://schemas.openxmlformats.org/officeDocument/2006/relationships/notesSlide" Target="/ppt/notesSlides/notesSlide12.xml" Id="R3c3771c25163435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3df87e4eb04ad0" /><Relationship Type="http://schemas.openxmlformats.org/officeDocument/2006/relationships/notesSlide" Target="/ppt/notesSlides/notesSlide13.xml" Id="R75fdc02223f34c5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be57dbab154d91" /><Relationship Type="http://schemas.openxmlformats.org/officeDocument/2006/relationships/notesSlide" Target="/ppt/notesSlides/notesSlide14.xml" Id="R35c1bb7b04644e2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738ddfdfcc34d3c" /><Relationship Type="http://schemas.openxmlformats.org/officeDocument/2006/relationships/notesSlide" Target="/ppt/notesSlides/notesSlide15.xml" Id="R3ed3f0733a7e4fd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0fd62b86d9c48e4" /><Relationship Type="http://schemas.openxmlformats.org/officeDocument/2006/relationships/notesSlide" Target="/ppt/notesSlides/notesSlide16.xml" Id="R24c5ca9e40b74bc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6fc506e12e45ed" /><Relationship Type="http://schemas.openxmlformats.org/officeDocument/2006/relationships/notesSlide" Target="/ppt/notesSlides/notesSlide17.xml" Id="Re764f0280af74b6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fc0b12cb624275" /><Relationship Type="http://schemas.openxmlformats.org/officeDocument/2006/relationships/notesSlide" Target="/ppt/notesSlides/notesSlide18.xml" Id="Refabd31e4b864cf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324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929FFB-5934-412A-ABE0-5FFD37FB9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198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7DDCB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7DDCB3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7DDCB3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B39193-BC40-4116-A6D7-8494EB468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1500"/>
            <a:ext cx="8572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9750" b="1">
                <a:solidFill>
                  <a:srgbClr val="7DDCB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9750" b="1">
                <a:solidFill>
                  <a:srgbClr val="7DDCB3"/>
                </a:solidFill>
                <a:latin typeface="Calibri"/>
                <a:ea typeface="Calibri"/>
                <a:cs typeface="Calibri"/>
              </a:defRPr>
            </a:pPr>
            <a:r>
              <a:rPr sz="9750" b="1">
                <a:solidFill>
                  <a:srgbClr val="7DDCB3"/>
                </a:solidFill>
                <a:latin typeface="Calibri"/>
                <a:ea typeface="Calibri"/>
                <a:cs typeface="Calibri"/>
              </a:rPr>
              <a:t>pulso.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DD88C8-BEF5-4806-9831-CFF2FD6B2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1028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4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4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4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Gestão da Academia Movimento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D9AE44-3CB1-4421-8633-F6F239C25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24300"/>
            <a:ext cx="952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Alunos, matrículas e estoque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2A1A04-AE83-4762-AD89-B9C9224B5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7DDCB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7DDCB3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7DDCB3"/>
                </a:solidFill>
                <a:latin typeface="Calibri"/>
                <a:ea typeface="Calibri"/>
                <a:cs typeface="Calibri"/>
              </a:rPr>
              <a:t>Grupo 05</a:t>
            </a:r>
          </a:p>
        </p:txBody>
      </p:sp>
    </p:spTree>
    <p:extLst>
      <p:ext uri="{BB962C8B-B14F-4D97-AF65-F5344CB8AC3E}">
        <p14:creationId xmlns:p14="http://schemas.microsoft.com/office/powerpoint/2010/main" val="53977721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6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D28A62-B35C-44AA-92C5-514C1725F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92D3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92D35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92D35"/>
                </a:solidFill>
                <a:latin typeface="Calibri"/>
                <a:ea typeface="Calibri"/>
                <a:cs typeface="Calibri"/>
              </a:rPr>
              <a:t>O atendimento da academia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F8DB0D-410C-46C0-A2ED-7350C38A3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198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5757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5757A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5757A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D35017-2871-4B67-A66A-285E79775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77B66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77B66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277B66"/>
                </a:solidFill>
                <a:latin typeface="Calibri"/>
                <a:ea typeface="Calibri"/>
                <a:cs typeface="Calibri"/>
              </a:rPr>
              <a:t>Cliente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A871B5-F02A-4472-99AB-560B1287F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76450"/>
            <a:ext cx="4953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92D3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92D35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92D35"/>
                </a:solidFill>
                <a:latin typeface="Calibri"/>
                <a:ea typeface="Calibri"/>
                <a:cs typeface="Calibri"/>
              </a:rPr>
              <a:t>Academia Movimento, uma academia fictícia que precisa organizar suas operações.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FE39DC-18E3-4D17-AA1E-B1A5DEB5E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2400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77B66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77B66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277B66"/>
                </a:solidFill>
                <a:latin typeface="Calibri"/>
                <a:ea typeface="Calibri"/>
                <a:cs typeface="Calibri"/>
              </a:rPr>
              <a:t>Necessidade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987BA7-855D-4646-80AF-4F6144AC2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76450"/>
            <a:ext cx="4953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92D3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92D35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92D35"/>
                </a:solidFill>
                <a:latin typeface="Calibri"/>
                <a:ea typeface="Calibri"/>
                <a:cs typeface="Calibri"/>
              </a:rPr>
              <a:t>Consultar o aluno e sua contratação durante o atendimento.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C9942F-A4A8-4F20-84AF-B2B18C0C0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57625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77B66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77B66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277B66"/>
                </a:solidFill>
                <a:latin typeface="Calibri"/>
                <a:ea typeface="Calibri"/>
                <a:cs typeface="Calibri"/>
              </a:rPr>
              <a:t>Problema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21580A-8445-440C-A3B7-10419A0F5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10075"/>
            <a:ext cx="4953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92D3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92D35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92D35"/>
                </a:solidFill>
                <a:latin typeface="Calibri"/>
                <a:ea typeface="Calibri"/>
                <a:cs typeface="Calibri"/>
              </a:rPr>
              <a:t>Cadastros e controles separados dificultam a consulta e o acompanhamento.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0954DC-9221-4D4B-84BE-1D2354AA5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57625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77B66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77B66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277B66"/>
                </a:solidFill>
                <a:latin typeface="Calibri"/>
                <a:ea typeface="Calibri"/>
                <a:cs typeface="Calibri"/>
              </a:rPr>
              <a:t>Proposta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034DA9-C6F0-471E-AF25-5447D194B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10075"/>
            <a:ext cx="4953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92D3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92D35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92D35"/>
                </a:solidFill>
                <a:latin typeface="Calibri"/>
                <a:ea typeface="Calibri"/>
                <a:cs typeface="Calibri"/>
              </a:rPr>
              <a:t>Reunir essas informações e registrar cada entrada e saída de estoque.</a:t>
            </a:r>
          </a:p>
        </p:txBody>
      </p:sp>
    </p:spTree>
    <p:extLst>
      <p:ext uri="{BB962C8B-B14F-4D97-AF65-F5344CB8AC3E}">
        <p14:creationId xmlns:p14="http://schemas.microsoft.com/office/powerpoint/2010/main" val="187791138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6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548FEA-04DB-4BE6-8280-4F2F2D609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92D3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92D35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92D35"/>
                </a:solidFill>
                <a:latin typeface="Calibri"/>
                <a:ea typeface="Calibri"/>
                <a:cs typeface="Calibri"/>
              </a:rPr>
              <a:t>Escopo e regras do sistema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94733A-63E9-4438-8C4A-9466D8A0F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198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5757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5757A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5757A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362B00-B988-4BA7-A959-BF41159AAB92}"/>
              </a:ext>
            </a:extLst>
          </p:cNvPr>
          <p:cNvGraphicFramePr/>
          <p:nvPr/>
        </p:nvGraphicFramePr>
        <p:xfrm>
          <a:off xmlns:a="http://schemas.openxmlformats.org/drawingml/2006/main" x="552450" y="1457325"/>
          <a:ext xmlns:a="http://schemas.openxmlformats.org/drawingml/2006/main" cx="11087100" cy="3943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86050"/>
                <a:gridCol w="8401050"/>
              </a:tblGrid>
              <a:tr h="657225">
                <a:tc>
                  <a:txBody>
                    <a:bodyPr lIns="114300" tIns="114300" rIns="114300" bIns="11430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Operação</a:t>
                      </a:r>
                    </a:p>
                  </a:txBody>
                  <a:tcPr marL="91440" marR="91440" marT="45720" marB="45720">
                    <a:solidFill>
                      <a:srgbClr val="13242D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Regra adotada</a:t>
                      </a:r>
                    </a:p>
                  </a:txBody>
                  <a:tcPr marL="91440" marR="91440" marT="45720" marB="45720">
                    <a:solidFill>
                      <a:srgbClr val="13242D"/>
                    </a:solidFill>
                  </a:tcPr>
                </a:tc>
              </a:tr>
              <a:tr h="657225"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192D35"/>
                          </a:solidFill>
                          <a:latin typeface="Calibri"/>
                          <a:ea typeface="Calibri"/>
                          <a:cs typeface="Calibri"/>
                        </a:rPr>
                        <a:t>Alunos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192D35"/>
                          </a:solidFill>
                          <a:latin typeface="Calibri"/>
                          <a:ea typeface="Calibri"/>
                          <a:cs typeface="Calibri"/>
                        </a:rPr>
                        <a:t>CPF válido e único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192D35"/>
                          </a:solidFill>
                          <a:latin typeface="Calibri"/>
                          <a:ea typeface="Calibri"/>
                          <a:cs typeface="Calibri"/>
                        </a:rPr>
                        <a:t>Matrículas</a:t>
                      </a:r>
                    </a:p>
                  </a:txBody>
                  <a:tcPr marL="91440" marR="91440" marT="45720" marB="45720">
                    <a:solidFill>
                      <a:srgbClr val="EDF2E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192D35"/>
                          </a:solidFill>
                          <a:latin typeface="Calibri"/>
                          <a:ea typeface="Calibri"/>
                          <a:cs typeface="Calibri"/>
                        </a:rPr>
                        <a:t>Uma contratação aberta por aluno e plano</a:t>
                      </a:r>
                    </a:p>
                  </a:txBody>
                  <a:tcPr marL="91440" marR="91440" marT="45720" marB="45720">
                    <a:solidFill>
                      <a:srgbClr val="EDF2EF"/>
                    </a:solidFill>
                  </a:tcPr>
                </a:tc>
              </a:tr>
              <a:tr h="657225"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192D35"/>
                          </a:solidFill>
                          <a:latin typeface="Calibri"/>
                          <a:ea typeface="Calibri"/>
                          <a:cs typeface="Calibri"/>
                        </a:rPr>
                        <a:t>Pagamento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192D35"/>
                          </a:solidFill>
                          <a:latin typeface="Calibri"/>
                          <a:ea typeface="Calibri"/>
                          <a:cs typeface="Calibri"/>
                        </a:rPr>
                        <a:t>Um registro para o valor total contratado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192D35"/>
                          </a:solidFill>
                          <a:latin typeface="Calibri"/>
                          <a:ea typeface="Calibri"/>
                          <a:cs typeface="Calibri"/>
                        </a:rPr>
                        <a:t>Estoque</a:t>
                      </a:r>
                    </a:p>
                  </a:txBody>
                  <a:tcPr marL="91440" marR="91440" marT="45720" marB="45720">
                    <a:solidFill>
                      <a:srgbClr val="EDF2E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192D35"/>
                          </a:solidFill>
                          <a:latin typeface="Calibri"/>
                          <a:ea typeface="Calibri"/>
                          <a:cs typeface="Calibri"/>
                        </a:rPr>
                        <a:t>Saída limitada ao saldo disponível</a:t>
                      </a:r>
                    </a:p>
                  </a:txBody>
                  <a:tcPr marL="91440" marR="91440" marT="45720" marB="45720">
                    <a:solidFill>
                      <a:srgbClr val="EDF2EF"/>
                    </a:solidFill>
                  </a:tcPr>
                </a:tc>
              </a:tr>
              <a:tr h="657225"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192D35"/>
                          </a:solidFill>
                          <a:latin typeface="Calibri"/>
                          <a:ea typeface="Calibri"/>
                          <a:cs typeface="Calibri"/>
                        </a:rPr>
                        <a:t>Acesso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192D35"/>
                          </a:solidFill>
                          <a:latin typeface="Calibri"/>
                          <a:ea typeface="Calibri"/>
                          <a:cs typeface="Calibri"/>
                        </a:rPr>
                        <a:t>Permissões por perfil de usuário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187F2B-CE91-4C7F-BFC5-84697B82C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00725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77B66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77B66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277B66"/>
                </a:solidFill>
                <a:latin typeface="Calibri"/>
                <a:ea typeface="Calibri"/>
                <a:cs typeface="Calibri"/>
              </a:rPr>
              <a:t>Dados guardados em banco relacional local</a:t>
            </a:r>
          </a:p>
        </p:txBody>
      </p:sp>
    </p:spTree>
    <p:extLst>
      <p:ext uri="{BB962C8B-B14F-4D97-AF65-F5344CB8AC3E}">
        <p14:creationId xmlns:p14="http://schemas.microsoft.com/office/powerpoint/2010/main" val="22198669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6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3718EC-BDDA-424C-9EE8-39EEB7552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92D3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92D35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92D35"/>
                </a:solidFill>
                <a:latin typeface="Calibri"/>
                <a:ea typeface="Calibri"/>
                <a:cs typeface="Calibri"/>
              </a:rPr>
              <a:t>Acesso ao sistema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CAE8A3-357C-4660-B1E3-B7851B974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198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5757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5757A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5757A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908DBE-3077-45E7-95C8-3F5920B69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76375"/>
            <a:ext cx="255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277B66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277B66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277B66"/>
                </a:solidFill>
                <a:latin typeface="Calibri"/>
                <a:ea typeface="Calibri"/>
                <a:cs typeface="Calibri"/>
              </a:rPr>
              <a:t>Quem usa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524936-B635-4702-8CB7-16ED12090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19275"/>
            <a:ext cx="2552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192D3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92D35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92D35"/>
                </a:solidFill>
                <a:latin typeface="Calibri"/>
                <a:ea typeface="Calibri"/>
                <a:cs typeface="Calibri"/>
              </a:rPr>
              <a:t>Administrador e equipe da recepção.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D1713C-40B2-465B-A3CE-524F25525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90850"/>
            <a:ext cx="255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277B66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277B66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277B66"/>
                </a:solidFill>
                <a:latin typeface="Calibri"/>
                <a:ea typeface="Calibri"/>
                <a:cs typeface="Calibri"/>
              </a:rPr>
              <a:t>O que informa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83D05E-D6C4-47E1-9F5D-B1A700A82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0"/>
            <a:ext cx="2552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192D3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92D35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92D35"/>
                </a:solidFill>
                <a:latin typeface="Calibri"/>
                <a:ea typeface="Calibri"/>
                <a:cs typeface="Calibri"/>
              </a:rPr>
              <a:t>Usuário e senha de uma conta ativa.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7227B0-FB9A-4761-9C87-BCB3C8EA9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05325"/>
            <a:ext cx="255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277B66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277B66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277B66"/>
                </a:solidFill>
                <a:latin typeface="Calibri"/>
                <a:ea typeface="Calibri"/>
                <a:cs typeface="Calibri"/>
              </a:rPr>
              <a:t>O que acontece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8F92AD-331C-4E27-94BD-00DB6CA25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48225"/>
            <a:ext cx="2552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192D3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92D35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92D35"/>
                </a:solidFill>
                <a:latin typeface="Calibri"/>
                <a:ea typeface="Calibri"/>
                <a:cs typeface="Calibri"/>
              </a:rPr>
              <a:t>O perfil define as ações disponíveis nas outras telas.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C31BE0-3304-4D3C-AAE2-C849113488C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da3f0e90594e84"/>
          <a:stretch xmlns:a="http://schemas.openxmlformats.org/drawingml/2006/main"/>
        </p:blipFill>
        <p:spPr>
          <a:xfrm xmlns:a="http://schemas.openxmlformats.org/drawingml/2006/main">
            <a:off x="3531998" y="1343025"/>
            <a:ext cx="7966455" cy="4953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026321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6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20F06F-C336-402B-AE45-DC4932127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92D3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92D35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92D35"/>
                </a:solidFill>
                <a:latin typeface="Calibri"/>
                <a:ea typeface="Calibri"/>
                <a:cs typeface="Calibri"/>
              </a:rPr>
              <a:t>Visão geral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476FE2-D934-47A3-9334-0ADE18B4E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198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5757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5757A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5757A"/>
                </a:solidFill>
                <a:latin typeface="Calibri"/>
                <a:ea typeface="Calibri"/>
                <a:cs typeface="Calibri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231986-D787-46E5-A713-129202F77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76375"/>
            <a:ext cx="255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277B66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277B66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277B66"/>
                </a:solidFill>
                <a:latin typeface="Calibri"/>
                <a:ea typeface="Calibri"/>
                <a:cs typeface="Calibri"/>
              </a:rPr>
              <a:t>Quem usa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D3DA22-A938-4784-AED8-FE1793CAB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19275"/>
            <a:ext cx="2552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192D3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92D35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92D35"/>
                </a:solidFill>
                <a:latin typeface="Calibri"/>
                <a:ea typeface="Calibri"/>
                <a:cs typeface="Calibri"/>
              </a:rPr>
              <a:t>Equipe da academia.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FC6C0C-F7C3-4B3F-967A-D75A1DEE6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90850"/>
            <a:ext cx="255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277B66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277B66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277B66"/>
                </a:solidFill>
                <a:latin typeface="Calibri"/>
                <a:ea typeface="Calibri"/>
                <a:cs typeface="Calibri"/>
              </a:rPr>
              <a:t>O que mostra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0E3D9B-3564-4D7C-B063-A264CC1EA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0"/>
            <a:ext cx="2552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192D3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92D35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92D35"/>
                </a:solidFill>
                <a:latin typeface="Calibri"/>
                <a:ea typeface="Calibri"/>
                <a:cs typeface="Calibri"/>
              </a:rPr>
              <a:t>Alunos, matrículas, pagamentos pendentes e reposição.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84A7BA-75AC-42E6-A320-134C68A2E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05325"/>
            <a:ext cx="255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277B66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277B66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277B66"/>
                </a:solidFill>
                <a:latin typeface="Calibri"/>
                <a:ea typeface="Calibri"/>
                <a:cs typeface="Calibri"/>
              </a:rPr>
              <a:t>Como ajuda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F8DF63-122C-4D3A-A678-383EAAE76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48225"/>
            <a:ext cx="2552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192D3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92D35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92D35"/>
                </a:solidFill>
                <a:latin typeface="Calibri"/>
                <a:ea typeface="Calibri"/>
                <a:cs typeface="Calibri"/>
              </a:rPr>
              <a:t>O alerta leva à consulta dos produtos e do estoque.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0391A5-9115-451E-A53F-2865C95EE9A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14360fd5044fa8"/>
          <a:stretch xmlns:a="http://schemas.openxmlformats.org/drawingml/2006/main"/>
        </p:blipFill>
        <p:spPr>
          <a:xfrm xmlns:a="http://schemas.openxmlformats.org/drawingml/2006/main">
            <a:off x="3531998" y="1343025"/>
            <a:ext cx="7966455" cy="4953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04333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6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BE0D4E-29C6-4C92-B40F-FDACC2862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92D3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92D35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92D35"/>
                </a:solidFill>
                <a:latin typeface="Calibri"/>
                <a:ea typeface="Calibri"/>
                <a:cs typeface="Calibri"/>
              </a:rPr>
              <a:t>Cadastro e consulta de alunos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D7E675-C4C7-4B75-8D78-7DBC541D7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198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5757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5757A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5757A"/>
                </a:solidFill>
                <a:latin typeface="Calibri"/>
                <a:ea typeface="Calibri"/>
                <a:cs typeface="Calibri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23777E-629A-497D-88F8-B09CADA2B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76375"/>
            <a:ext cx="255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277B66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277B66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277B66"/>
                </a:solidFill>
                <a:latin typeface="Calibri"/>
                <a:ea typeface="Calibri"/>
                <a:cs typeface="Calibri"/>
              </a:rPr>
              <a:t>Quem usa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AEBA6E-2A97-43D7-8A1A-505A58EC6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19275"/>
            <a:ext cx="2552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192D3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92D35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92D35"/>
                </a:solidFill>
                <a:latin typeface="Calibri"/>
                <a:ea typeface="Calibri"/>
                <a:cs typeface="Calibri"/>
              </a:rPr>
              <a:t>Administrador e recepção.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E66DF6-1F2A-4366-9E6E-5896EA21E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90850"/>
            <a:ext cx="255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277B66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277B66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277B66"/>
                </a:solidFill>
                <a:latin typeface="Calibri"/>
                <a:ea typeface="Calibri"/>
                <a:cs typeface="Calibri"/>
              </a:rPr>
              <a:t>O que guarda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BB1FBA-CA3A-459D-AFC7-B98A400DB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0"/>
            <a:ext cx="2552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192D3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92D35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92D35"/>
                </a:solidFill>
                <a:latin typeface="Calibri"/>
                <a:ea typeface="Calibri"/>
                <a:cs typeface="Calibri"/>
              </a:rPr>
              <a:t>Nome, CPF, telefone, e-mail e situação do cadastro.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1D9B5A-C89E-4ECB-86E3-B58F77834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05325"/>
            <a:ext cx="255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277B66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277B66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277B66"/>
                </a:solidFill>
                <a:latin typeface="Calibri"/>
                <a:ea typeface="Calibri"/>
                <a:cs typeface="Calibri"/>
              </a:rPr>
              <a:t>O que permite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EB39C6-29A2-4988-A15F-52AC37C6A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48225"/>
            <a:ext cx="2552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192D3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92D35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92D35"/>
                </a:solidFill>
                <a:latin typeface="Calibri"/>
                <a:ea typeface="Calibri"/>
                <a:cs typeface="Calibri"/>
              </a:rPr>
              <a:t>Buscar, cadastrar e editar. O aluno é vinculado à matrícula.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6A345B-80E0-401A-A07D-89CCC971026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677dacc0364dcb"/>
          <a:stretch xmlns:a="http://schemas.openxmlformats.org/drawingml/2006/main"/>
        </p:blipFill>
        <p:spPr>
          <a:xfrm xmlns:a="http://schemas.openxmlformats.org/drawingml/2006/main">
            <a:off x="3531998" y="1343025"/>
            <a:ext cx="7966455" cy="4953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108976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6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DE18DF-3BDD-4A21-A8C9-C8072DA05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92D3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92D35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92D35"/>
                </a:solidFill>
                <a:latin typeface="Calibri"/>
                <a:ea typeface="Calibri"/>
                <a:cs typeface="Calibri"/>
              </a:rPr>
              <a:t>Modalidades oferecidas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068943-5F0C-41A7-8F5F-106C8D293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198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5757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5757A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5757A"/>
                </a:solidFill>
                <a:latin typeface="Calibri"/>
                <a:ea typeface="Calibri"/>
                <a:cs typeface="Calibri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993A5F-321B-4E07-8593-A23CF1D4B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76375"/>
            <a:ext cx="255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277B66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277B66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277B66"/>
                </a:solidFill>
                <a:latin typeface="Calibri"/>
                <a:ea typeface="Calibri"/>
                <a:cs typeface="Calibri"/>
              </a:rPr>
              <a:t>Quem usa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3F1D5C-FD0B-4610-9BC4-31C6A722A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19275"/>
            <a:ext cx="2552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192D3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92D35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92D35"/>
                </a:solidFill>
                <a:latin typeface="Calibri"/>
                <a:ea typeface="Calibri"/>
                <a:cs typeface="Calibri"/>
              </a:rPr>
              <a:t>Equipe consulta. O administrador altera.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7E1CF7-4408-4D76-84E4-C7324CB65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90850"/>
            <a:ext cx="255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277B66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277B66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277B66"/>
                </a:solidFill>
                <a:latin typeface="Calibri"/>
                <a:ea typeface="Calibri"/>
                <a:cs typeface="Calibri"/>
              </a:rPr>
              <a:t>O que guarda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9E0E58-37D9-4BA2-96A4-401EB6781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0"/>
            <a:ext cx="2552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192D3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92D35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92D35"/>
                </a:solidFill>
                <a:latin typeface="Calibri"/>
                <a:ea typeface="Calibri"/>
                <a:cs typeface="Calibri"/>
              </a:rPr>
              <a:t>Nome e descrição da atividade.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C72B24-F2B1-4D1A-84CB-408AAB12F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05325"/>
            <a:ext cx="255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277B66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277B66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277B66"/>
                </a:solidFill>
                <a:latin typeface="Calibri"/>
                <a:ea typeface="Calibri"/>
                <a:cs typeface="Calibri"/>
              </a:rPr>
              <a:t>Relação com planos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EE83AC-4A6C-4BC9-8431-D30FBCC13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48225"/>
            <a:ext cx="2552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192D3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92D35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92D35"/>
                </a:solidFill>
                <a:latin typeface="Calibri"/>
                <a:ea typeface="Calibri"/>
                <a:cs typeface="Calibri"/>
              </a:rPr>
              <a:t>Cada plano usa uma modalidade cadastrada.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1EED68-D82C-4470-82F1-533D4590D69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c43ba482954077"/>
          <a:stretch xmlns:a="http://schemas.openxmlformats.org/drawingml/2006/main"/>
        </p:blipFill>
        <p:spPr>
          <a:xfrm xmlns:a="http://schemas.openxmlformats.org/drawingml/2006/main">
            <a:off x="3531998" y="1343025"/>
            <a:ext cx="7966455" cy="4953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984636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6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0A744C-CB6B-44F5-AC00-E00C1A0E0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92D3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92D35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92D35"/>
                </a:solidFill>
                <a:latin typeface="Calibri"/>
                <a:ea typeface="Calibri"/>
                <a:cs typeface="Calibri"/>
              </a:rPr>
              <a:t>Planos da academia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8903A5-9587-418D-9BB5-3CA1F03D1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198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5757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5757A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5757A"/>
                </a:solidFill>
                <a:latin typeface="Calibri"/>
                <a:ea typeface="Calibri"/>
                <a:cs typeface="Calibri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1627C6-ED4F-47E8-8253-412F9D3AA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76375"/>
            <a:ext cx="255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277B66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277B66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277B66"/>
                </a:solidFill>
                <a:latin typeface="Calibri"/>
                <a:ea typeface="Calibri"/>
                <a:cs typeface="Calibri"/>
              </a:rPr>
              <a:t>Quem usa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45FBA2-C6E5-469E-935B-E5A7A0706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19275"/>
            <a:ext cx="2552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192D3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92D35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92D35"/>
                </a:solidFill>
                <a:latin typeface="Calibri"/>
                <a:ea typeface="Calibri"/>
                <a:cs typeface="Calibri"/>
              </a:rPr>
              <a:t>Equipe consulta. O administrador configura.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ED04D6-F4C7-4523-9757-7B039488F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90850"/>
            <a:ext cx="255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277B66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277B66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277B66"/>
                </a:solidFill>
                <a:latin typeface="Calibri"/>
                <a:ea typeface="Calibri"/>
                <a:cs typeface="Calibri"/>
              </a:rPr>
              <a:t>O que define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70AE77-8A04-400D-B57D-C1752DBAF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0"/>
            <a:ext cx="2552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192D3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92D35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92D35"/>
                </a:solidFill>
                <a:latin typeface="Calibri"/>
                <a:ea typeface="Calibri"/>
                <a:cs typeface="Calibri"/>
              </a:rPr>
              <a:t>Modalidade, duração em meses e valor total.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A57057-C47E-463E-BF32-D889250DB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05325"/>
            <a:ext cx="255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277B66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277B66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277B66"/>
                </a:solidFill>
                <a:latin typeface="Calibri"/>
                <a:ea typeface="Calibri"/>
                <a:cs typeface="Calibri"/>
              </a:rPr>
              <a:t>Na contratação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DB6802-2877-4B9C-AE7B-FFEBF792D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48225"/>
            <a:ext cx="2552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192D3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92D35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92D35"/>
                </a:solidFill>
                <a:latin typeface="Calibri"/>
                <a:ea typeface="Calibri"/>
                <a:cs typeface="Calibri"/>
              </a:rPr>
              <a:t>A matrícula copia o valor e calcula a validade.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F4E204-5FCB-472F-86CF-CA4E44964B4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7e784b4f794eee"/>
          <a:stretch xmlns:a="http://schemas.openxmlformats.org/drawingml/2006/main"/>
        </p:blipFill>
        <p:spPr>
          <a:xfrm xmlns:a="http://schemas.openxmlformats.org/drawingml/2006/main">
            <a:off x="3531998" y="1343025"/>
            <a:ext cx="7966455" cy="4953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480425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6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1C804C-BEE1-4F3A-9E5E-E4B237B2C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92D3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92D35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92D35"/>
                </a:solidFill>
                <a:latin typeface="Calibri"/>
                <a:ea typeface="Calibri"/>
                <a:cs typeface="Calibri"/>
              </a:rPr>
              <a:t>Matrículas e pagamentos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F32BC4-DC68-46EC-803B-312A2F56D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198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5757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5757A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5757A"/>
                </a:solidFill>
                <a:latin typeface="Calibri"/>
                <a:ea typeface="Calibri"/>
                <a:cs typeface="Calibri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1139C9-B5E6-4416-8B76-24BAE7483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76375"/>
            <a:ext cx="255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277B66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277B66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277B66"/>
                </a:solidFill>
                <a:latin typeface="Calibri"/>
                <a:ea typeface="Calibri"/>
                <a:cs typeface="Calibri"/>
              </a:rPr>
              <a:t>Quem usa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A92815-D8E7-4FDB-87EC-7AEA967BB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19275"/>
            <a:ext cx="2552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192D3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92D35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92D35"/>
                </a:solidFill>
                <a:latin typeface="Calibri"/>
                <a:ea typeface="Calibri"/>
                <a:cs typeface="Calibri"/>
              </a:rPr>
              <a:t>Administrador e recepção.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095BB9-57E8-417F-BCAE-AA4DE517A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90850"/>
            <a:ext cx="255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277B66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277B66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277B66"/>
                </a:solidFill>
                <a:latin typeface="Calibri"/>
                <a:ea typeface="Calibri"/>
                <a:cs typeface="Calibri"/>
              </a:rPr>
              <a:t>O que registra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0FD6C4-5E08-4950-A7D9-12AF16884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0"/>
            <a:ext cx="2552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192D3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92D35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92D35"/>
                </a:solidFill>
                <a:latin typeface="Calibri"/>
                <a:ea typeface="Calibri"/>
                <a:cs typeface="Calibri"/>
              </a:rPr>
              <a:t>Aluno, plano, datas, valor e situação.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4D65E0-7338-4E26-B13B-090A19834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05325"/>
            <a:ext cx="255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277B66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277B66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277B66"/>
                </a:solidFill>
                <a:latin typeface="Calibri"/>
                <a:ea typeface="Calibri"/>
                <a:cs typeface="Calibri"/>
              </a:rPr>
              <a:t>O que permite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96A206-C85B-46EB-A7A1-C2B720513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48225"/>
            <a:ext cx="2552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192D3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92D35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92D35"/>
                </a:solidFill>
                <a:latin typeface="Calibri"/>
                <a:ea typeface="Calibri"/>
                <a:cs typeface="Calibri"/>
              </a:rPr>
              <a:t>Contratar, alterar situação, pagar e consultar histórico.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886FD0-160B-4975-9561-7F544FBB0E3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2f5adabdb74a11"/>
          <a:stretch xmlns:a="http://schemas.openxmlformats.org/drawingml/2006/main"/>
        </p:blipFill>
        <p:spPr>
          <a:xfrm xmlns:a="http://schemas.openxmlformats.org/drawingml/2006/main">
            <a:off x="3531998" y="1343025"/>
            <a:ext cx="7966455" cy="4953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5244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6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62321F-1C54-4F4B-AD39-66B5D0226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92D3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92D35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92D35"/>
                </a:solidFill>
                <a:latin typeface="Calibri"/>
                <a:ea typeface="Calibri"/>
                <a:cs typeface="Calibri"/>
              </a:rPr>
              <a:t>Produtos e saldo disponível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0BE0C8-7221-4523-A8DE-34009FA74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198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5757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5757A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5757A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F4A1C4-E21C-4CB9-B0C5-1514691AE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76375"/>
            <a:ext cx="255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277B66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277B66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277B66"/>
                </a:solidFill>
                <a:latin typeface="Calibri"/>
                <a:ea typeface="Calibri"/>
                <a:cs typeface="Calibri"/>
              </a:rPr>
              <a:t>Quem usa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97DB8D-2CC6-4B10-A5B9-F1459B6E5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19275"/>
            <a:ext cx="2552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192D3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92D35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92D35"/>
                </a:solidFill>
                <a:latin typeface="Calibri"/>
                <a:ea typeface="Calibri"/>
                <a:cs typeface="Calibri"/>
              </a:rPr>
              <a:t>Equipe consulta e movimenta. Administrador cadastra.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EF76AD-DF6C-4DDC-BDC2-8C0C2AE98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90850"/>
            <a:ext cx="255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277B66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277B66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277B66"/>
                </a:solidFill>
                <a:latin typeface="Calibri"/>
                <a:ea typeface="Calibri"/>
                <a:cs typeface="Calibri"/>
              </a:rPr>
              <a:t>O que apresenta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F1EDC5-1CD4-4D04-9B46-DFC6A4FB7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0"/>
            <a:ext cx="2552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192D3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92D35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92D35"/>
                </a:solidFill>
                <a:latin typeface="Calibri"/>
                <a:ea typeface="Calibri"/>
                <a:cs typeface="Calibri"/>
              </a:rPr>
              <a:t>Produto, unidade, preço, saldo e mínimo.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D94AF3-0610-4537-BED3-507A80E66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05325"/>
            <a:ext cx="255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277B66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277B66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277B66"/>
                </a:solidFill>
                <a:latin typeface="Calibri"/>
                <a:ea typeface="Calibri"/>
                <a:cs typeface="Calibri"/>
              </a:rPr>
              <a:t>Alerta de reposição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3527FF-9564-46E3-8F3A-6C9EF48E2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48225"/>
            <a:ext cx="2552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192D3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92D35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92D35"/>
                </a:solidFill>
                <a:latin typeface="Calibri"/>
                <a:ea typeface="Calibri"/>
                <a:cs typeface="Calibri"/>
              </a:rPr>
              <a:t>REPOR aparece quando saldo chega ao mínimo ou fica abaixo.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00183B-4257-4DC9-83AA-6DDC3F98BA7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b13ab824554c6e"/>
          <a:stretch xmlns:a="http://schemas.openxmlformats.org/drawingml/2006/main"/>
        </p:blipFill>
        <p:spPr>
          <a:xfrm xmlns:a="http://schemas.openxmlformats.org/drawingml/2006/main">
            <a:off x="3531998" y="1343025"/>
            <a:ext cx="7966455" cy="4953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61782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6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6A03A3-8450-43AC-B0B4-23359C1F8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92D3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92D35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92D35"/>
                </a:solidFill>
                <a:latin typeface="Calibri"/>
                <a:ea typeface="Calibri"/>
                <a:cs typeface="Calibri"/>
              </a:rPr>
              <a:t>Histórico de movimentações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F911E6-FA06-49EE-A613-5BF1D56E3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198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5757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5757A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5757A"/>
                </a:solidFill>
                <a:latin typeface="Calibri"/>
                <a:ea typeface="Calibri"/>
                <a:cs typeface="Calibri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49630D-68FD-444F-9354-5EA859467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76375"/>
            <a:ext cx="255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277B66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277B66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277B66"/>
                </a:solidFill>
                <a:latin typeface="Calibri"/>
                <a:ea typeface="Calibri"/>
                <a:cs typeface="Calibri"/>
              </a:rPr>
              <a:t>Quem usa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8380F4-A293-4941-984A-8B08F526F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19275"/>
            <a:ext cx="2552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192D3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92D35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92D35"/>
                </a:solidFill>
                <a:latin typeface="Calibri"/>
                <a:ea typeface="Calibri"/>
                <a:cs typeface="Calibri"/>
              </a:rPr>
              <a:t>Administrador e recepção.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0A7F04-8774-4F85-9E5B-D78BA2A5C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90850"/>
            <a:ext cx="255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277B66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277B66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277B66"/>
                </a:solidFill>
                <a:latin typeface="Calibri"/>
                <a:ea typeface="Calibri"/>
                <a:cs typeface="Calibri"/>
              </a:rPr>
              <a:t>O que registra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970E9D-EC02-4C7E-A93B-E1CA24763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0"/>
            <a:ext cx="2552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192D3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92D35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92D35"/>
                </a:solidFill>
                <a:latin typeface="Calibri"/>
                <a:ea typeface="Calibri"/>
                <a:cs typeface="Calibri"/>
              </a:rPr>
              <a:t>Produto, tipo, quantidade, motivo, data e responsável.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14DCC2-364D-4C47-B34E-DF19AFC81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05325"/>
            <a:ext cx="255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277B66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277B66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277B66"/>
                </a:solidFill>
                <a:latin typeface="Calibri"/>
                <a:ea typeface="Calibri"/>
                <a:cs typeface="Calibri"/>
              </a:rPr>
              <a:t>Como controla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23F22E-423D-4A37-B769-9CD061BF7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48225"/>
            <a:ext cx="2552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192D3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92D35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92D35"/>
                </a:solidFill>
                <a:latin typeface="Calibri"/>
                <a:ea typeface="Calibri"/>
                <a:cs typeface="Calibri"/>
              </a:rPr>
              <a:t>Cada entrada ou saída atualiza o saldo na mesma transação.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A5B82E-EC2A-4C0B-A31E-2446EF7C33D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fd98f6ed7f409c"/>
          <a:stretch xmlns:a="http://schemas.openxmlformats.org/drawingml/2006/main"/>
        </p:blipFill>
        <p:spPr>
          <a:xfrm xmlns:a="http://schemas.openxmlformats.org/drawingml/2006/main">
            <a:off x="3531998" y="1343025"/>
            <a:ext cx="7966455" cy="4953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623619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6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5E6C03-1B9E-492B-AD3C-11B921CFC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92D3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92D35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92D35"/>
                </a:solidFill>
                <a:latin typeface="Calibri"/>
                <a:ea typeface="Calibri"/>
                <a:cs typeface="Calibri"/>
              </a:rPr>
              <a:t>Usuários e permissões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5CF01C-4CB7-4029-8E2D-92C859356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198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5757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5757A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5757A"/>
                </a:solidFill>
                <a:latin typeface="Calibri"/>
                <a:ea typeface="Calibri"/>
                <a:cs typeface="Calibri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E11616-288B-4EA5-9847-3BC49E24F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76375"/>
            <a:ext cx="255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277B66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277B66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277B66"/>
                </a:solidFill>
                <a:latin typeface="Calibri"/>
                <a:ea typeface="Calibri"/>
                <a:cs typeface="Calibri"/>
              </a:rPr>
              <a:t>Quem usa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440F65-5580-44F6-9F64-B541E0464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19275"/>
            <a:ext cx="2552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192D3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92D35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92D35"/>
                </a:solidFill>
                <a:latin typeface="Calibri"/>
                <a:ea typeface="Calibri"/>
                <a:cs typeface="Calibri"/>
              </a:rPr>
              <a:t>Apenas o administrador.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8734E4-ED9C-4508-A8A0-E58E01759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90850"/>
            <a:ext cx="255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277B66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277B66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277B66"/>
                </a:solidFill>
                <a:latin typeface="Calibri"/>
                <a:ea typeface="Calibri"/>
                <a:cs typeface="Calibri"/>
              </a:rPr>
              <a:t>O que define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7FF0AD-BA40-4C77-B47F-F9B3949E6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0"/>
            <a:ext cx="2552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192D3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92D35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92D35"/>
                </a:solidFill>
                <a:latin typeface="Calibri"/>
                <a:ea typeface="Calibri"/>
                <a:cs typeface="Calibri"/>
              </a:rPr>
              <a:t>Login, senha, perfil e conta ativa.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A5F701-67E6-4DD2-B041-21BEE373A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05325"/>
            <a:ext cx="255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277B66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277B66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277B66"/>
                </a:solidFill>
                <a:latin typeface="Calibri"/>
                <a:ea typeface="Calibri"/>
                <a:cs typeface="Calibri"/>
              </a:rPr>
              <a:t>No atendimento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883AAD-01A4-4ED3-913B-ECE057753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48225"/>
            <a:ext cx="2552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192D3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92D35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92D35"/>
                </a:solidFill>
                <a:latin typeface="Calibri"/>
                <a:ea typeface="Calibri"/>
                <a:cs typeface="Calibri"/>
              </a:rPr>
              <a:t>O atendente opera alunos, contratos e movimentações.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29A1F8-8D18-4E37-96C4-DD20096D659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0c1df7bd284fa7"/>
          <a:stretch xmlns:a="http://schemas.openxmlformats.org/drawingml/2006/main"/>
        </p:blipFill>
        <p:spPr>
          <a:xfrm xmlns:a="http://schemas.openxmlformats.org/drawingml/2006/main">
            <a:off x="3531998" y="1343025"/>
            <a:ext cx="7966455" cy="4953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604594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4F6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604626-4968-48B1-9C6D-C04EFA3E8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92D3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92D35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92D35"/>
                </a:solidFill>
                <a:latin typeface="Calibri"/>
                <a:ea typeface="Calibri"/>
                <a:cs typeface="Calibri"/>
              </a:rPr>
              <a:t>Estrutura do banco de dados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F5DBAA-1233-48F6-A248-FFA3926AB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198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5757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5757A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5757A"/>
                </a:solidFill>
                <a:latin typeface="Calibri"/>
                <a:ea typeface="Calibri"/>
                <a:cs typeface="Calibri"/>
              </a:rPr>
              <a:t>13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6ADAEC-E81D-448B-9D61-4720A1F5BF39}"/>
              </a:ext>
            </a:extLst>
          </p:cNvPr>
          <p:cNvGraphicFramePr/>
          <p:nvPr/>
        </p:nvGraphicFramePr>
        <p:xfrm>
          <a:off xmlns:a="http://schemas.openxmlformats.org/drawingml/2006/main" x="552450" y="1428750"/>
          <a:ext xmlns:a="http://schemas.openxmlformats.org/drawingml/2006/main" cx="11087100" cy="4095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67125"/>
                <a:gridCol w="7419975"/>
              </a:tblGrid>
              <a:tr h="585107">
                <a:tc>
                  <a:txBody>
                    <a:bodyPr lIns="114300" tIns="114300" rIns="114300" bIns="11430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Relacionamento</a:t>
                      </a:r>
                    </a:p>
                  </a:txBody>
                  <a:tcPr marL="91440" marR="91440" marT="45720" marB="45720">
                    <a:solidFill>
                      <a:srgbClr val="13242D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Como os dados se conectam</a:t>
                      </a:r>
                    </a:p>
                  </a:txBody>
                  <a:tcPr marL="91440" marR="91440" marT="45720" marB="45720">
                    <a:solidFill>
                      <a:srgbClr val="13242D"/>
                    </a:solidFill>
                  </a:tcPr>
                </a:tc>
              </a:tr>
              <a:tr h="585107"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192D35"/>
                          </a:solidFill>
                          <a:latin typeface="Calibri"/>
                          <a:ea typeface="Calibri"/>
                          <a:cs typeface="Calibri"/>
                        </a:rPr>
                        <a:t>Aluno e matrícula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192D35"/>
                          </a:solidFill>
                          <a:latin typeface="Calibri"/>
                          <a:ea typeface="Calibri"/>
                          <a:cs typeface="Calibri"/>
                        </a:rPr>
                        <a:t>Um aluno pode ter várias matrículas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5107"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192D35"/>
                          </a:solidFill>
                          <a:latin typeface="Calibri"/>
                          <a:ea typeface="Calibri"/>
                          <a:cs typeface="Calibri"/>
                        </a:rPr>
                        <a:t>Modalidade e plano</a:t>
                      </a:r>
                    </a:p>
                  </a:txBody>
                  <a:tcPr marL="91440" marR="91440" marT="45720" marB="45720">
                    <a:solidFill>
                      <a:srgbClr val="EDF2E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192D35"/>
                          </a:solidFill>
                          <a:latin typeface="Calibri"/>
                          <a:ea typeface="Calibri"/>
                          <a:cs typeface="Calibri"/>
                        </a:rPr>
                        <a:t>Uma modalidade pode ter vários planos</a:t>
                      </a:r>
                    </a:p>
                  </a:txBody>
                  <a:tcPr marL="91440" marR="91440" marT="45720" marB="45720">
                    <a:solidFill>
                      <a:srgbClr val="EDF2EF"/>
                    </a:solidFill>
                  </a:tcPr>
                </a:tc>
              </a:tr>
              <a:tr h="585107"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192D35"/>
                          </a:solidFill>
                          <a:latin typeface="Calibri"/>
                          <a:ea typeface="Calibri"/>
                          <a:cs typeface="Calibri"/>
                        </a:rPr>
                        <a:t>Plano e matrícula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192D35"/>
                          </a:solidFill>
                          <a:latin typeface="Calibri"/>
                          <a:ea typeface="Calibri"/>
                          <a:cs typeface="Calibri"/>
                        </a:rPr>
                        <a:t>Um plano pode ser contratado por vários alunos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5107"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192D35"/>
                          </a:solidFill>
                          <a:latin typeface="Calibri"/>
                          <a:ea typeface="Calibri"/>
                          <a:cs typeface="Calibri"/>
                        </a:rPr>
                        <a:t>Matrícula e histórico</a:t>
                      </a:r>
                    </a:p>
                  </a:txBody>
                  <a:tcPr marL="91440" marR="91440" marT="45720" marB="45720">
                    <a:solidFill>
                      <a:srgbClr val="EDF2E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192D35"/>
                          </a:solidFill>
                          <a:latin typeface="Calibri"/>
                          <a:ea typeface="Calibri"/>
                          <a:cs typeface="Calibri"/>
                        </a:rPr>
                        <a:t>Cada alteração gera um registro</a:t>
                      </a:r>
                    </a:p>
                  </a:txBody>
                  <a:tcPr marL="91440" marR="91440" marT="45720" marB="45720">
                    <a:solidFill>
                      <a:srgbClr val="EDF2EF"/>
                    </a:solidFill>
                  </a:tcPr>
                </a:tc>
              </a:tr>
              <a:tr h="585107"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192D35"/>
                          </a:solidFill>
                          <a:latin typeface="Calibri"/>
                          <a:ea typeface="Calibri"/>
                          <a:cs typeface="Calibri"/>
                        </a:rPr>
                        <a:t>Matrícula e pagamento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192D35"/>
                          </a:solidFill>
                          <a:latin typeface="Calibri"/>
                          <a:ea typeface="Calibri"/>
                          <a:cs typeface="Calibri"/>
                        </a:rPr>
                        <a:t>Zero ou um pagamento por contratação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5107"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192D35"/>
                          </a:solidFill>
                          <a:latin typeface="Calibri"/>
                          <a:ea typeface="Calibri"/>
                          <a:cs typeface="Calibri"/>
                        </a:rPr>
                        <a:t>Produto e movimento</a:t>
                      </a:r>
                    </a:p>
                  </a:txBody>
                  <a:tcPr marL="91440" marR="91440" marT="45720" marB="45720">
                    <a:solidFill>
                      <a:srgbClr val="EDF2E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192D35"/>
                          </a:solidFill>
                          <a:latin typeface="Calibri"/>
                          <a:ea typeface="Calibri"/>
                          <a:cs typeface="Calibri"/>
                        </a:rPr>
                        <a:t>Cada entrada ou saída pertence a um produto</a:t>
                      </a:r>
                    </a:p>
                  </a:txBody>
                  <a:tcPr marL="91440" marR="91440" marT="45720" marB="45720">
                    <a:solidFill>
                      <a:srgbClr val="EDF2E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9EEEA5-B370-47D5-93DA-32EEB5F08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19775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277B66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277B66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277B66"/>
                </a:solidFill>
                <a:latin typeface="Calibri"/>
                <a:ea typeface="Calibri"/>
                <a:cs typeface="Calibri"/>
              </a:rPr>
              <a:t>Usuários identificam quem registrou cada operação</a:t>
            </a:r>
          </a:p>
        </p:txBody>
      </p:sp>
    </p:spTree>
    <p:extLst>
      <p:ext uri="{BB962C8B-B14F-4D97-AF65-F5344CB8AC3E}">
        <p14:creationId xmlns:p14="http://schemas.microsoft.com/office/powerpoint/2010/main" val="143666474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4F6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739555-082B-4FC4-A0E7-49D059F1D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92D3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92D35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92D35"/>
                </a:solidFill>
                <a:latin typeface="Calibri"/>
                <a:ea typeface="Calibri"/>
                <a:cs typeface="Calibri"/>
              </a:rPr>
              <a:t>Tecnologias e organização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6198FD-DAF0-4082-AA63-A1EF76DAC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198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5757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5757A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5757A"/>
                </a:solidFill>
                <a:latin typeface="Calibri"/>
                <a:ea typeface="Calibri"/>
                <a:cs typeface="Calibri"/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B3F896-64E4-446F-A44B-88716F116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77B66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77B66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277B66"/>
                </a:solidFill>
                <a:latin typeface="Calibri"/>
                <a:ea typeface="Calibri"/>
                <a:cs typeface="Calibri"/>
              </a:rPr>
              <a:t>Java e Swing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100D11-7C7C-4219-845D-E88E63331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57400"/>
            <a:ext cx="4953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92D3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92D35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92D35"/>
                </a:solidFill>
                <a:latin typeface="Calibri"/>
                <a:ea typeface="Calibri"/>
                <a:cs typeface="Calibri"/>
              </a:rPr>
              <a:t>Interface desktop com tabelas, formulários e navegação entre telas.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F40F8D-C164-452D-94EA-73137CC6C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0495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77B66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77B66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277B66"/>
                </a:solidFill>
                <a:latin typeface="Calibri"/>
                <a:ea typeface="Calibri"/>
                <a:cs typeface="Calibri"/>
              </a:rPr>
              <a:t>JDBC e H2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F921C0-1925-40BB-BF65-10538D406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57400"/>
            <a:ext cx="4953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92D3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92D35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92D35"/>
                </a:solidFill>
                <a:latin typeface="Calibri"/>
                <a:ea typeface="Calibri"/>
                <a:cs typeface="Calibri"/>
              </a:rPr>
              <a:t>Consultas parametrizadas e banco relacional salvo no computador.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83A337-7641-4F28-9F1C-8374B3B8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57625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77B66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77B66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277B66"/>
                </a:solidFill>
                <a:latin typeface="Calibri"/>
                <a:ea typeface="Calibri"/>
                <a:cs typeface="Calibri"/>
              </a:rPr>
              <a:t>IntelliJ IDEA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B7D724-E47C-4205-8F02-3B9797E25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10075"/>
            <a:ext cx="4953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92D3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92D35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92D35"/>
                </a:solidFill>
                <a:latin typeface="Calibri"/>
                <a:ea typeface="Calibri"/>
                <a:cs typeface="Calibri"/>
              </a:rPr>
              <a:t>Projeto organizado e biblioteca local para executar a demonstração.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82D921-252B-4CA4-B07A-8B7DD79A9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57625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77B66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77B66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277B66"/>
                </a:solidFill>
                <a:latin typeface="Calibri"/>
                <a:ea typeface="Calibri"/>
                <a:cs typeface="Calibri"/>
              </a:rPr>
              <a:t>Separação do código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B225A0-C538-4E37-AB68-2268F131E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10075"/>
            <a:ext cx="4953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92D3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92D35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92D35"/>
                </a:solidFill>
                <a:latin typeface="Calibri"/>
                <a:ea typeface="Calibri"/>
                <a:cs typeface="Calibri"/>
              </a:rPr>
              <a:t>A tela chama o serviço. O serviço valida e acessa o banco.</a:t>
            </a:r>
          </a:p>
        </p:txBody>
      </p:sp>
    </p:spTree>
    <p:extLst>
      <p:ext uri="{BB962C8B-B14F-4D97-AF65-F5344CB8AC3E}">
        <p14:creationId xmlns:p14="http://schemas.microsoft.com/office/powerpoint/2010/main" val="50381465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4F6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A7EBEC-BC86-46E4-9706-4547430EA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92D3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92D35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92D35"/>
                </a:solidFill>
                <a:latin typeface="Calibri"/>
                <a:ea typeface="Calibri"/>
                <a:cs typeface="Calibri"/>
              </a:rPr>
              <a:t>Cuidados de implementação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34FBE4-585B-46C5-A9F3-6BB6CFDE4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198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5757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5757A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5757A"/>
                </a:solidFill>
                <a:latin typeface="Calibri"/>
                <a:ea typeface="Calibri"/>
                <a:cs typeface="Calibri"/>
              </a:rPr>
              <a:t>15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F1013F-5C57-47D1-8BD2-01EA278F1D6D}"/>
              </a:ext>
            </a:extLst>
          </p:cNvPr>
          <p:cNvGraphicFramePr/>
          <p:nvPr/>
        </p:nvGraphicFramePr>
        <p:xfrm>
          <a:off xmlns:a="http://schemas.openxmlformats.org/drawingml/2006/main" x="552450" y="1524000"/>
          <a:ext xmlns:a="http://schemas.openxmlformats.org/drawingml/2006/main" cx="11087100" cy="3543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09950"/>
                <a:gridCol w="7677150"/>
              </a:tblGrid>
              <a:tr h="708660">
                <a:tc>
                  <a:txBody>
                    <a:bodyPr lIns="114300" tIns="114300" rIns="114300" bIns="11430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Ponto de atenção</a:t>
                      </a:r>
                    </a:p>
                  </a:txBody>
                  <a:tcPr marL="91440" marR="91440" marT="45720" marB="45720">
                    <a:solidFill>
                      <a:srgbClr val="13242D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Decisão no sistema</a:t>
                      </a:r>
                    </a:p>
                  </a:txBody>
                  <a:tcPr marL="91440" marR="91440" marT="45720" marB="45720">
                    <a:solidFill>
                      <a:srgbClr val="13242D"/>
                    </a:solidFill>
                  </a:tcPr>
                </a:tc>
              </a:tr>
              <a:tr h="708660"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192D35"/>
                          </a:solidFill>
                          <a:latin typeface="Calibri"/>
                          <a:ea typeface="Calibri"/>
                          <a:cs typeface="Calibri"/>
                        </a:rPr>
                        <a:t>Saldo de estoque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192D35"/>
                          </a:solidFill>
                          <a:latin typeface="Calibri"/>
                          <a:ea typeface="Calibri"/>
                          <a:cs typeface="Calibri"/>
                        </a:rPr>
                        <a:t>Atualizar saldo e histórico na mesma transação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08660"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192D35"/>
                          </a:solidFill>
                          <a:latin typeface="Calibri"/>
                          <a:ea typeface="Calibri"/>
                          <a:cs typeface="Calibri"/>
                        </a:rPr>
                        <a:t>Duplicidade de matrícula</a:t>
                      </a:r>
                    </a:p>
                  </a:txBody>
                  <a:tcPr marL="91440" marR="91440" marT="45720" marB="45720">
                    <a:solidFill>
                      <a:srgbClr val="EDF2E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192D35"/>
                          </a:solidFill>
                          <a:latin typeface="Calibri"/>
                          <a:ea typeface="Calibri"/>
                          <a:cs typeface="Calibri"/>
                        </a:rPr>
                        <a:t>Conferir contratos abertos antes de gravar</a:t>
                      </a:r>
                    </a:p>
                  </a:txBody>
                  <a:tcPr marL="91440" marR="91440" marT="45720" marB="45720">
                    <a:solidFill>
                      <a:srgbClr val="EDF2EF"/>
                    </a:solidFill>
                  </a:tcPr>
                </a:tc>
              </a:tr>
              <a:tr h="708660"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192D35"/>
                          </a:solidFill>
                          <a:latin typeface="Calibri"/>
                          <a:ea typeface="Calibri"/>
                          <a:cs typeface="Calibri"/>
                        </a:rPr>
                        <a:t>Mudança do preço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192D35"/>
                          </a:solidFill>
                          <a:latin typeface="Calibri"/>
                          <a:ea typeface="Calibri"/>
                          <a:cs typeface="Calibri"/>
                        </a:rPr>
                        <a:t>Manter o valor original na contratação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08660"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192D35"/>
                          </a:solidFill>
                          <a:latin typeface="Calibri"/>
                          <a:ea typeface="Calibri"/>
                          <a:cs typeface="Calibri"/>
                        </a:rPr>
                        <a:t>Acesso da equipe</a:t>
                      </a:r>
                    </a:p>
                  </a:txBody>
                  <a:tcPr marL="91440" marR="91440" marT="45720" marB="45720">
                    <a:solidFill>
                      <a:srgbClr val="EDF2E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192D35"/>
                          </a:solidFill>
                          <a:latin typeface="Calibri"/>
                          <a:ea typeface="Calibri"/>
                          <a:cs typeface="Calibri"/>
                        </a:rPr>
                        <a:t>Conferir senha e permissão no serviço</a:t>
                      </a:r>
                    </a:p>
                  </a:txBody>
                  <a:tcPr marL="91440" marR="91440" marT="45720" marB="45720">
                    <a:solidFill>
                      <a:srgbClr val="EDF2E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DDEC97-5254-472A-87CE-A0E496D6F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67375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77B66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277B66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277B66"/>
                </a:solidFill>
                <a:latin typeface="Calibri"/>
                <a:ea typeface="Calibri"/>
                <a:cs typeface="Calibri"/>
              </a:rPr>
              <a:t>Essas regras também entram nos testes</a:t>
            </a:r>
          </a:p>
        </p:txBody>
      </p:sp>
    </p:spTree>
    <p:extLst>
      <p:ext uri="{BB962C8B-B14F-4D97-AF65-F5344CB8AC3E}">
        <p14:creationId xmlns:p14="http://schemas.microsoft.com/office/powerpoint/2010/main" val="133807053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4F6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B5BC81-FCEA-4893-A666-F2CC0752F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92D3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92D35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92D35"/>
                </a:solidFill>
                <a:latin typeface="Calibri"/>
                <a:ea typeface="Calibri"/>
                <a:cs typeface="Calibri"/>
              </a:rPr>
              <a:t>Testes e resultados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0C7842-3793-48F8-840A-580662C44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198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5757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5757A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5757A"/>
                </a:solidFill>
                <a:latin typeface="Calibri"/>
                <a:ea typeface="Calibri"/>
                <a:cs typeface="Calibri"/>
              </a:rPr>
              <a:t>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9792AF-8C37-4529-8402-40B502FEC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3333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500" b="1">
                <a:solidFill>
                  <a:srgbClr val="277B66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0500" b="1">
                <a:solidFill>
                  <a:srgbClr val="277B66"/>
                </a:solidFill>
                <a:latin typeface="Calibri"/>
                <a:ea typeface="Calibri"/>
                <a:cs typeface="Calibri"/>
              </a:defRPr>
            </a:pPr>
            <a:r>
              <a:rPr sz="10500" b="1">
                <a:solidFill>
                  <a:srgbClr val="277B66"/>
                </a:solidFill>
                <a:latin typeface="Calibri"/>
                <a:ea typeface="Calibri"/>
                <a:cs typeface="Calibri"/>
              </a:rPr>
              <a:t>43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65C2CA-3DA1-4C90-A4E9-304C90DE5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62300"/>
            <a:ext cx="5048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700" b="1">
                <a:solidFill>
                  <a:srgbClr val="192D3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92D35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192D35"/>
                </a:solidFill>
                <a:latin typeface="Calibri"/>
                <a:ea typeface="Calibri"/>
                <a:cs typeface="Calibri"/>
              </a:rPr>
              <a:t>verificações passaram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854204-B20D-4A75-B304-AA26D6FC8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0"/>
            <a:ext cx="4667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65757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65757A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65757A"/>
                </a:solidFill>
                <a:latin typeface="Calibri"/>
                <a:ea typeface="Calibri"/>
                <a:cs typeface="Calibri"/>
              </a:rPr>
              <a:t>Regras do serviço e integração com o banco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08AD33-AE92-4DFA-B54E-374993F22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14475"/>
            <a:ext cx="523875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92D3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92D35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92D35"/>
                </a:solidFill>
                <a:latin typeface="Calibri"/>
                <a:ea typeface="Calibri"/>
                <a:cs typeface="Calibri"/>
              </a:rPr>
              <a:t>Acesso e permissões</a:t>
            </a:r>
          </a:p>
          <a:p xmlns:a="http://schemas.openxmlformats.org/drawingml/2006/main">
            <a:pPr>
              <a:defRPr sz="2175" b="0">
                <a:solidFill>
                  <a:srgbClr val="192D35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92D35"/>
                </a:solidFill>
                <a:latin typeface="Calibri"/>
                <a:ea typeface="Calibri"/>
                <a:cs typeface="Calibri"/>
              </a:rPr>
              <a:t>Cadastros e duplicidades</a:t>
            </a:r>
          </a:p>
          <a:p xmlns:a="http://schemas.openxmlformats.org/drawingml/2006/main">
            <a:pPr>
              <a:defRPr sz="2175" b="0">
                <a:solidFill>
                  <a:srgbClr val="192D35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92D35"/>
                </a:solidFill>
                <a:latin typeface="Calibri"/>
                <a:ea typeface="Calibri"/>
                <a:cs typeface="Calibri"/>
              </a:rPr>
              <a:t>Situação e pagamento</a:t>
            </a:r>
          </a:p>
          <a:p xmlns:a="http://schemas.openxmlformats.org/drawingml/2006/main">
            <a:pPr>
              <a:defRPr sz="2175" b="0">
                <a:solidFill>
                  <a:srgbClr val="192D35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92D35"/>
                </a:solidFill>
                <a:latin typeface="Calibri"/>
                <a:ea typeface="Calibri"/>
                <a:cs typeface="Calibri"/>
              </a:rPr>
              <a:t>Saldo e histórico</a:t>
            </a:r>
          </a:p>
          <a:p xmlns:a="http://schemas.openxmlformats.org/drawingml/2006/main">
            <a:pPr>
              <a:defRPr sz="2175" b="0">
                <a:solidFill>
                  <a:srgbClr val="192D35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92D35"/>
                </a:solidFill>
                <a:latin typeface="Calibri"/>
                <a:ea typeface="Calibri"/>
                <a:cs typeface="Calibri"/>
              </a:rPr>
              <a:t>Concorrência e rollback</a:t>
            </a:r>
          </a:p>
          <a:p xmlns:a="http://schemas.openxmlformats.org/drawingml/2006/main">
            <a:pPr>
              <a:defRPr sz="2175" b="0">
                <a:solidFill>
                  <a:srgbClr val="192D35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92D35"/>
                </a:solidFill>
                <a:latin typeface="Calibri"/>
                <a:ea typeface="Calibri"/>
                <a:cs typeface="Calibri"/>
              </a:rPr>
              <a:t>Persistência após reabrir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5FB8DF-AD27-4D0E-A260-711122086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91200"/>
            <a:ext cx="1076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277B66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277B66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277B66"/>
                </a:solidFill>
                <a:latin typeface="Calibri"/>
                <a:ea typeface="Calibri"/>
                <a:cs typeface="Calibri"/>
              </a:rPr>
              <a:t>O roteiro manual orienta o ensaio no aplicativo</a:t>
            </a:r>
          </a:p>
        </p:txBody>
      </p:sp>
    </p:spTree>
    <p:extLst>
      <p:ext uri="{BB962C8B-B14F-4D97-AF65-F5344CB8AC3E}">
        <p14:creationId xmlns:p14="http://schemas.microsoft.com/office/powerpoint/2010/main" val="167797885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4F6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034E81-065B-44CD-85AE-284CB106E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92D3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92D35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92D35"/>
                </a:solidFill>
                <a:latin typeface="Calibri"/>
                <a:ea typeface="Calibri"/>
                <a:cs typeface="Calibri"/>
              </a:rPr>
              <a:t>Demonstração do atendimento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7DF8D3-2B7E-41CD-960F-A2EFFA478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198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5757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5757A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5757A"/>
                </a:solidFill>
                <a:latin typeface="Calibri"/>
                <a:ea typeface="Calibri"/>
                <a:cs typeface="Calibri"/>
              </a:rPr>
              <a:t>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FD59A6-836F-436B-AFBE-67551CC53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76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277B66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277B66"/>
                </a:solidFill>
                <a:latin typeface="Calibri"/>
                <a:ea typeface="Calibri"/>
                <a:cs typeface="Calibri"/>
              </a:defRPr>
            </a:pPr>
            <a:r>
              <a:rPr sz="3225" b="1">
                <a:solidFill>
                  <a:srgbClr val="277B66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F40127-4662-44C8-8912-D276BD8CA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666875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92D3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92D35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92D35"/>
                </a:solidFill>
                <a:latin typeface="Calibri"/>
                <a:ea typeface="Calibri"/>
                <a:cs typeface="Calibri"/>
              </a:rPr>
              <a:t>Entrar e consultar um aluno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55F174-36AB-492F-9213-6DE706F76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62225"/>
            <a:ext cx="76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277B66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277B66"/>
                </a:solidFill>
                <a:latin typeface="Calibri"/>
                <a:ea typeface="Calibri"/>
                <a:cs typeface="Calibri"/>
              </a:defRPr>
            </a:pPr>
            <a:r>
              <a:rPr sz="3225" b="1">
                <a:solidFill>
                  <a:srgbClr val="277B66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6FC9BB-FB7D-41DC-B1A6-884455641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64795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92D3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92D35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92D35"/>
                </a:solidFill>
                <a:latin typeface="Calibri"/>
                <a:ea typeface="Calibri"/>
                <a:cs typeface="Calibri"/>
              </a:rPr>
              <a:t>Registrar matrícula e pagamento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09AF19-5F87-493A-96FC-0C9000FA2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43300"/>
            <a:ext cx="76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277B66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277B66"/>
                </a:solidFill>
                <a:latin typeface="Calibri"/>
                <a:ea typeface="Calibri"/>
                <a:cs typeface="Calibri"/>
              </a:defRPr>
            </a:pPr>
            <a:r>
              <a:rPr sz="3225" b="1">
                <a:solidFill>
                  <a:srgbClr val="277B66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C9EC31-E18C-47E2-B97B-1D38DBB2A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629025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92D3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92D35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92D35"/>
                </a:solidFill>
                <a:latin typeface="Calibri"/>
                <a:ea typeface="Calibri"/>
                <a:cs typeface="Calibri"/>
              </a:rPr>
              <a:t>Alterar situação e conferir histórico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75F451-B76F-448B-9BDA-853C80396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24375"/>
            <a:ext cx="76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277B66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277B66"/>
                </a:solidFill>
                <a:latin typeface="Calibri"/>
                <a:ea typeface="Calibri"/>
                <a:cs typeface="Calibri"/>
              </a:defRPr>
            </a:pPr>
            <a:r>
              <a:rPr sz="3225" b="1">
                <a:solidFill>
                  <a:srgbClr val="277B66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AA125C-DDD0-4D75-8525-6F6DD1F57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6101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92D3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92D35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92D35"/>
                </a:solidFill>
                <a:latin typeface="Calibri"/>
                <a:ea typeface="Calibri"/>
                <a:cs typeface="Calibri"/>
              </a:rPr>
              <a:t>Movimentar estoque e testar o limite do saldo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714832-AD8E-4720-8CA4-13DF2D4E8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57875"/>
            <a:ext cx="1085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65757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65757A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65757A"/>
                </a:solidFill>
                <a:latin typeface="Calibri"/>
                <a:ea typeface="Calibri"/>
                <a:cs typeface="Calibri"/>
              </a:rPr>
              <a:t>Fluxo completo no aplicativo aberto</a:t>
            </a:r>
          </a:p>
        </p:txBody>
      </p:sp>
    </p:spTree>
    <p:extLst>
      <p:ext uri="{BB962C8B-B14F-4D97-AF65-F5344CB8AC3E}">
        <p14:creationId xmlns:p14="http://schemas.microsoft.com/office/powerpoint/2010/main" val="196591638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4F6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EA063C-8DA6-4544-93C7-42DDEE5C6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92D3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92D35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92D35"/>
                </a:solidFill>
                <a:latin typeface="Calibri"/>
                <a:ea typeface="Calibri"/>
                <a:cs typeface="Calibri"/>
              </a:rPr>
              <a:t>Entrega e próximos passos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893D5C-0717-4BC2-B9DF-36DBA09F5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198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5757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5757A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5757A"/>
                </a:solidFill>
                <a:latin typeface="Calibri"/>
                <a:ea typeface="Calibri"/>
                <a:cs typeface="Calibri"/>
              </a:rPr>
              <a:t>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3583F9-9C7F-42CC-B285-FAA93EAD4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77B66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77B66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277B66"/>
                </a:solidFill>
                <a:latin typeface="Calibri"/>
                <a:ea typeface="Calibri"/>
                <a:cs typeface="Calibri"/>
              </a:rPr>
              <a:t>Nesta versão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B5ECAA-9D91-416A-9F2B-8F7AF01CC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76450"/>
            <a:ext cx="4953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92D3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92D35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92D35"/>
                </a:solidFill>
                <a:latin typeface="Calibri"/>
                <a:ea typeface="Calibri"/>
                <a:cs typeface="Calibri"/>
              </a:rPr>
              <a:t>Cadastro de alunos, contratação de planos e controle de estoque com histórico.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1DA26A-AD85-4D37-8252-331A0276C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2400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77B66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77B66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277B66"/>
                </a:solidFill>
                <a:latin typeface="Calibri"/>
                <a:ea typeface="Calibri"/>
                <a:cs typeface="Calibri"/>
              </a:rPr>
              <a:t>Acompanhamento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C4C637-1F76-4722-9455-4190503C2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76450"/>
            <a:ext cx="4953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92D3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92D35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92D35"/>
                </a:solidFill>
                <a:latin typeface="Calibri"/>
                <a:ea typeface="Calibri"/>
                <a:cs typeface="Calibri"/>
              </a:rPr>
              <a:t>Situação, pagamento da contratação e alertas de reposição.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AF5C76-E429-492D-A7C5-5510F4962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57625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77B66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77B66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277B66"/>
                </a:solidFill>
                <a:latin typeface="Calibri"/>
                <a:ea typeface="Calibri"/>
                <a:cs typeface="Calibri"/>
              </a:rPr>
              <a:t>Limites do escopo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E47542-B5EF-4950-881C-5D427E318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10075"/>
            <a:ext cx="4953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92D3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92D35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92D35"/>
                </a:solidFill>
                <a:latin typeface="Calibri"/>
                <a:ea typeface="Calibri"/>
                <a:cs typeface="Calibri"/>
              </a:rPr>
              <a:t>Execução local, pagamento único por contrato e conferência manual de validade.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5C8D3B-BD70-4613-B817-2BC822C14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57625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77B66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77B66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277B66"/>
                </a:solidFill>
                <a:latin typeface="Calibri"/>
                <a:ea typeface="Calibri"/>
                <a:cs typeface="Calibri"/>
              </a:rPr>
              <a:t>Possíveis evoluções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972BEA-94CF-4E0B-B723-1C9E4F7E8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10075"/>
            <a:ext cx="4953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92D3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92D35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92D35"/>
                </a:solidFill>
                <a:latin typeface="Calibri"/>
                <a:ea typeface="Calibri"/>
                <a:cs typeface="Calibri"/>
              </a:rPr>
              <a:t>Cobranças recorrentes, backup automático e integração com a catraca.</a:t>
            </a:r>
          </a:p>
        </p:txBody>
      </p:sp>
    </p:spTree>
    <p:extLst>
      <p:ext uri="{BB962C8B-B14F-4D97-AF65-F5344CB8AC3E}">
        <p14:creationId xmlns:p14="http://schemas.microsoft.com/office/powerpoint/2010/main" val="8403789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2026-10-09T11:55:04.0260000Z</dcterms:created>
  <dcterms:modified xsi:type="dcterms:W3CDTF">2026-10-09T11:55:04.0260000Z</dcterms:modified>
</coreProperties>
</file>