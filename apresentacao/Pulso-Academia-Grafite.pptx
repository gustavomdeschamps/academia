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599279abed4b61" /><Relationship Type="http://schemas.openxmlformats.org/officeDocument/2006/relationships/extended-properties" Target="/docProps/app.xml" Id="R66d0c8be4c2d4fd8" /><Relationship Type="http://schemas.openxmlformats.org/officeDocument/2006/relationships/officeDocument" Target="/ppt/presentation.xml" Id="Rf35942481e9046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fbc62ae0034934"/>
  </p:sldMasterIdLst>
  <p:notesMasterIdLst>
    <p:notesMasterId xmlns:r="http://schemas.openxmlformats.org/officeDocument/2006/relationships" r:id="R1b27c334bdce4b73"/>
  </p:notesMasterIdLst>
  <p:sldIdLst>
    <p:sldId xmlns:r="http://schemas.openxmlformats.org/officeDocument/2006/relationships" id="256" r:id="Rf614ec0f76cc4412"/>
    <p:sldId xmlns:r="http://schemas.openxmlformats.org/officeDocument/2006/relationships" id="257" r:id="R4f5955cd08384bd5"/>
    <p:sldId xmlns:r="http://schemas.openxmlformats.org/officeDocument/2006/relationships" id="258" r:id="Rb15ec0b1c74d4ae3"/>
    <p:sldId xmlns:r="http://schemas.openxmlformats.org/officeDocument/2006/relationships" id="259" r:id="R3b2b0e2fffb34e9a"/>
    <p:sldId xmlns:r="http://schemas.openxmlformats.org/officeDocument/2006/relationships" id="260" r:id="Rdb57df84123f4033"/>
    <p:sldId xmlns:r="http://schemas.openxmlformats.org/officeDocument/2006/relationships" id="261" r:id="Rde4c000efcd64a07"/>
    <p:sldId xmlns:r="http://schemas.openxmlformats.org/officeDocument/2006/relationships" id="262" r:id="R1448651d18904f05"/>
    <p:sldId xmlns:r="http://schemas.openxmlformats.org/officeDocument/2006/relationships" id="263" r:id="R7adc9df0e80c4844"/>
    <p:sldId xmlns:r="http://schemas.openxmlformats.org/officeDocument/2006/relationships" id="264" r:id="R55fe3861c74e4c00"/>
    <p:sldId xmlns:r="http://schemas.openxmlformats.org/officeDocument/2006/relationships" id="265" r:id="Rc9ab4810ee274423"/>
    <p:sldId xmlns:r="http://schemas.openxmlformats.org/officeDocument/2006/relationships" id="266" r:id="R40e2b47d6d0749b4"/>
    <p:sldId xmlns:r="http://schemas.openxmlformats.org/officeDocument/2006/relationships" id="267" r:id="R74670b95a4d745b6"/>
    <p:sldId xmlns:r="http://schemas.openxmlformats.org/officeDocument/2006/relationships" id="268" r:id="Rc46a208a04f5462d"/>
    <p:sldId xmlns:r="http://schemas.openxmlformats.org/officeDocument/2006/relationships" id="269" r:id="R5261e97789244c76"/>
    <p:sldId xmlns:r="http://schemas.openxmlformats.org/officeDocument/2006/relationships" id="270" r:id="R38e70b8bcae84e25"/>
    <p:sldId xmlns:r="http://schemas.openxmlformats.org/officeDocument/2006/relationships" id="271" r:id="Rdda0c028eb0b4252"/>
    <p:sldId xmlns:r="http://schemas.openxmlformats.org/officeDocument/2006/relationships" id="272" r:id="Rd5c81dc4e4ca4ab2"/>
    <p:sldId xmlns:r="http://schemas.openxmlformats.org/officeDocument/2006/relationships" id="273" r:id="Rc8e0b20c1f5d4d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1deb7cf48d4fe8" /><Relationship Type="http://schemas.openxmlformats.org/officeDocument/2006/relationships/slideMaster" Target="/ppt/slideMasters/slideMaster1.xml" Id="R31fbc62ae0034934" /><Relationship Type="http://schemas.openxmlformats.org/officeDocument/2006/relationships/notesMaster" Target="/ppt/notesMasters/notesMaster1.xml" Id="R1b27c334bdce4b73" /><Relationship Type="http://schemas.openxmlformats.org/officeDocument/2006/relationships/presProps" Target="/ppt/presProps.xml" Id="Rf2a945a85a0d4570" /><Relationship Type="http://schemas.openxmlformats.org/officeDocument/2006/relationships/tableStyles" Target="/ppt/tableStyles.xml" Id="R41b373e4ba9e482b" /><Relationship Type="http://schemas.openxmlformats.org/officeDocument/2006/relationships/slide" Target="/ppt/slides/slide1.xml" Id="Rf614ec0f76cc4412" /><Relationship Type="http://schemas.openxmlformats.org/officeDocument/2006/relationships/slide" Target="/ppt/slides/slide2.xml" Id="R4f5955cd08384bd5" /><Relationship Type="http://schemas.openxmlformats.org/officeDocument/2006/relationships/slide" Target="/ppt/slides/slide3.xml" Id="Rb15ec0b1c74d4ae3" /><Relationship Type="http://schemas.openxmlformats.org/officeDocument/2006/relationships/slide" Target="/ppt/slides/slide4.xml" Id="R3b2b0e2fffb34e9a" /><Relationship Type="http://schemas.openxmlformats.org/officeDocument/2006/relationships/slide" Target="/ppt/slides/slide5.xml" Id="Rdb57df84123f4033" /><Relationship Type="http://schemas.openxmlformats.org/officeDocument/2006/relationships/slide" Target="/ppt/slides/slide6.xml" Id="Rde4c000efcd64a07" /><Relationship Type="http://schemas.openxmlformats.org/officeDocument/2006/relationships/slide" Target="/ppt/slides/slide7.xml" Id="R1448651d18904f05" /><Relationship Type="http://schemas.openxmlformats.org/officeDocument/2006/relationships/slide" Target="/ppt/slides/slide8.xml" Id="R7adc9df0e80c4844" /><Relationship Type="http://schemas.openxmlformats.org/officeDocument/2006/relationships/slide" Target="/ppt/slides/slide9.xml" Id="R55fe3861c74e4c00" /><Relationship Type="http://schemas.openxmlformats.org/officeDocument/2006/relationships/slide" Target="/ppt/slides/slide10.xml" Id="Rc9ab4810ee274423" /><Relationship Type="http://schemas.openxmlformats.org/officeDocument/2006/relationships/slide" Target="/ppt/slides/slide11.xml" Id="R40e2b47d6d0749b4" /><Relationship Type="http://schemas.openxmlformats.org/officeDocument/2006/relationships/slide" Target="/ppt/slides/slide12.xml" Id="R74670b95a4d745b6" /><Relationship Type="http://schemas.openxmlformats.org/officeDocument/2006/relationships/slide" Target="/ppt/slides/slide13.xml" Id="Rc46a208a04f5462d" /><Relationship Type="http://schemas.openxmlformats.org/officeDocument/2006/relationships/slide" Target="/ppt/slides/slide14.xml" Id="R5261e97789244c76" /><Relationship Type="http://schemas.openxmlformats.org/officeDocument/2006/relationships/slide" Target="/ppt/slides/slide15.xml" Id="R38e70b8bcae84e25" /><Relationship Type="http://schemas.openxmlformats.org/officeDocument/2006/relationships/slide" Target="/ppt/slides/slide16.xml" Id="Rdda0c028eb0b4252" /><Relationship Type="http://schemas.openxmlformats.org/officeDocument/2006/relationships/slide" Target="/ppt/slides/slide17.xml" Id="Rd5c81dc4e4ca4ab2" /><Relationship Type="http://schemas.openxmlformats.org/officeDocument/2006/relationships/slide" Target="/ppt/slides/slide18.xml" Id="Rc8e0b20c1f5d4d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2e7c924de449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01c643da58480d" /><Relationship Type="http://schemas.openxmlformats.org/officeDocument/2006/relationships/notesMaster" Target="/ppt/notesMasters/notesMaster1.xml" Id="R4a325ea3debc45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0a7a9686c14106" /><Relationship Type="http://schemas.openxmlformats.org/officeDocument/2006/relationships/notesMaster" Target="/ppt/notesMasters/notesMaster1.xml" Id="R07f2661db5ca4f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cf21f429cd47a3" /><Relationship Type="http://schemas.openxmlformats.org/officeDocument/2006/relationships/notesMaster" Target="/ppt/notesMasters/notesMaster1.xml" Id="Rb0f48a2bcbdd41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6ef60d500c4f1c" /><Relationship Type="http://schemas.openxmlformats.org/officeDocument/2006/relationships/notesMaster" Target="/ppt/notesMasters/notesMaster1.xml" Id="Re8a96267925c45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02375ccac743f2" /><Relationship Type="http://schemas.openxmlformats.org/officeDocument/2006/relationships/notesMaster" Target="/ppt/notesMasters/notesMaster1.xml" Id="Ra30213f1463241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d49a01521742f8" /><Relationship Type="http://schemas.openxmlformats.org/officeDocument/2006/relationships/notesMaster" Target="/ppt/notesMasters/notesMaster1.xml" Id="R2eafcae16ac544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f94e67f12c463f" /><Relationship Type="http://schemas.openxmlformats.org/officeDocument/2006/relationships/notesMaster" Target="/ppt/notesMasters/notesMaster1.xml" Id="Rf22491ef83cf4f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7ec83d96ae4907" /><Relationship Type="http://schemas.openxmlformats.org/officeDocument/2006/relationships/notesMaster" Target="/ppt/notesMasters/notesMaster1.xml" Id="R2269b7e5923147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28215ba8db4dd1" /><Relationship Type="http://schemas.openxmlformats.org/officeDocument/2006/relationships/notesMaster" Target="/ppt/notesMasters/notesMaster1.xml" Id="Rd59b019c54fe4c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976555947a40d2" /><Relationship Type="http://schemas.openxmlformats.org/officeDocument/2006/relationships/notesMaster" Target="/ppt/notesMasters/notesMaster1.xml" Id="Rebac4d30b00a47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b91abf9cc742b0" /><Relationship Type="http://schemas.openxmlformats.org/officeDocument/2006/relationships/notesMaster" Target="/ppt/notesMasters/notesMaster1.xml" Id="Rc2ef363f897842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38a47796f549ce" /><Relationship Type="http://schemas.openxmlformats.org/officeDocument/2006/relationships/notesMaster" Target="/ppt/notesMasters/notesMaster1.xml" Id="R64a92cf30f7940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5e005352c34fe2" /><Relationship Type="http://schemas.openxmlformats.org/officeDocument/2006/relationships/notesMaster" Target="/ppt/notesMasters/notesMaster1.xml" Id="Rc7320e16448a4d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f00bc8e21c44ad" /><Relationship Type="http://schemas.openxmlformats.org/officeDocument/2006/relationships/notesMaster" Target="/ppt/notesMasters/notesMaster1.xml" Id="R2356d6a2d85d45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91921567624d95" /><Relationship Type="http://schemas.openxmlformats.org/officeDocument/2006/relationships/notesMaster" Target="/ppt/notesMasters/notesMaster1.xml" Id="R43ef59f70fa142d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9e7f78a41c41cf" /><Relationship Type="http://schemas.openxmlformats.org/officeDocument/2006/relationships/notesMaster" Target="/ppt/notesMasters/notesMaster1.xml" Id="Rb55c48ce5ac841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eedbc306af43dd" /><Relationship Type="http://schemas.openxmlformats.org/officeDocument/2006/relationships/notesMaster" Target="/ppt/notesMasters/notesMaster1.xml" Id="Recea789c6df4434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62d931b0d9e45fa" /><Relationship Type="http://schemas.openxmlformats.org/officeDocument/2006/relationships/notesMaster" Target="/ppt/notesMasters/notesMaster1.xml" Id="R5c0526284bbf4f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Pulso, o cliente fictício e os nomes dos integrantes do Grupo 05. O sistema reúne o atendimento dos alunos e o controle dos materiais da academia.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 e docs/novas-imagens.md.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cenário descreve informações descentralizadas. Explique com uma situação simples: a recepção precisa consultar o aluno e sua matrícula, enquanto a equipe acompanha os materiais. Não atribua estes problemas a uma academia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 e docs/novas-imagens.md.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são regras adotadas para esta versão. O preço é o valor total do plano, não uma mensalidade recorrente. Trancamento altera a situação sem estender a validade. O administrador configura o sistema e a recepção realiza atendimentos.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 e docs/novas-imagens.md.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o acesso com uma conta válida e explique que a senha é conferida por hash. Credenciais para a demonstração: admin / Admin@123 e recepcao / Recepcao@123. Mensagens de erro não identificam qual campo estava incorreto.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 e docs/novas-imagens.md.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 diferença entre aluno ativo e matrícula ativa. Uma matrícula pode estar ativa e com pagamento pendente. Os números da imagem são registros fictícios de demonstração, não indicadores de uma academia real. O alerta aparece quando saldo é menor ou igual ao mínimo.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 e docs/novas-imagens.md.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Demonstre a pesquisa e um cadastro. O serviço valida CPF, duplicidade, telefone e e-mail. Um aluno com matrícula aberta não pode ser inativado. Inativar preserva seus registros. Não existe botão para apagar o histórico do aluno.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 e docs/novas-imagens.md.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modalidade representa a atividade, como musculação, funcional ou pilates. Esta tela não gerencia horários nem turmas. Um plano precisa apontar para uma modalidade existente. Mostre a relação com a tela seguinte.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 e docs/novas-imagens.md.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Deixe claro que o valor é total para o período do plano. A alteração de um preço não modifica matrículas antigas. A aplicação usa BigDecimal e o banco usa DECIMAL para evitar arredondamentos de ponto flutuante.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 e docs/novas-imagens.md.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Nova matrícula, Situação, Pagamento e Histórico. As situações são ATIVA, TRANCADA e CANCELADA. Cancelamento é definitivo. Uma nova contratação pode ser feita após cancelar. O sistema impede matrícula aberta duplicada e segundo pagamento do mesmo contrato. A data final é visível, mas não cancela automaticamente.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 e docs/novas-imagens.md.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saldo do produto não é digitado na edição do cadastro. Um produto novo começa em zero. Toda alteração de saldo exige entrada ou saída, mantendo o histórico. O preço é uma referência de cadastro, não uma venda financeira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 e docs/novas-imagens.md.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Demonstre uma entrada, depois uma saída e uma tentativa acima do saldo. Não se pode editar ou apagar movimentos pela interface. Se houver erro operacional, registre uma movimentação compensatória com motivo claro. A atualização e o histórico são confirmados juntos.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 e docs/novas-imagens.md.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a recepção não gerencia contas ou altera a configuração de planos. A validação de perfil também ocorre no serviço. O administrador não pode desativar a própria conta nem remover seu próprio perfil. Ao editar, senha em branco mantém a senha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 e docs/novas-imagens.md.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banco tem nove tabelas. Todas têm id como chave primária. A tabela matriculas liga aluno e plano. Pagamentos permite zero ou um registro por matrícula. Historico_matriculas guarda várias alterações. Usuarios identifica o responsável pelas operações. Consulte database/schema.sql e docs/modelo-banco.md para chaves e atributos completos.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 e docs/novas-imagens.md.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 17 ou superior. A máquina da demonstração tem JDK 23. Swing fornece a interface desktop. JDBC liga o código ao H2 2.3.232. IntelliJ é o ambiente de desenvolvimento. Explique o fluxo de um formulário até a consulta ao banco, usando o código de matrícula.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 e docs/novas-imagens.md.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estes pontos como desafios técnicos da solução. Não invente uma história pessoal sobre dificuldades que o grupo não vivenciou. Estoque: UPDATE condicional e transação. Matrícula: bloqueio do aluno para evitar duplicidade simultânea. Histórico: preço copiado para o contrato. Senhas: PBKDF2, salt e validação de perfil.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 e docs/novas-imagens.md.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Foram executadas 51 verificações automáticas, todas aprovadas. São testes de serviço e integração JDBC, não automação de todos os cliques da interface. Evidência: docs/resultados-testes.md e src/test/java/br/com/pulso/SystemTest.java. Os casos manuais de demonstração estão em docs/requisitos-e-testes.md.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 e docs/novas-imagens.md.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o sistema. Entre como administrador. Cadastre Carla Mendes, CPF 12345678909, telefone (47) 99999-1234 e carla@example.com, se ela ainda não estiver cadastrada. Contrate um plano, registre um pagamento, altere a situação e consulte o histórico. Depois registre entrada e saída de uma faixa elástica e tente uma saída maior que o saldo. Reabra o sistema para mostrar a persistência.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 e docs/novas-imagens.md.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versão é local. Reforce os limites: pagamento único por contratação, validade consultável sem cancelamento automático, sem catraca, emissão fiscal ou backup automático. Os próximos passos são propostas de evolução, não funcionalidades implementadas. Finalize e abra espaço para as perguntas. Todos os integrantes devem conhecer o fluxo geral.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 e docs/novas-imagens.md.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5274d765d43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b4c0640d44b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fb63cda4c4a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e10464e2046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f13061614843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bbc194a1e48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91226B-DD0C-4FD1-B3CE-1134B18C58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136B67-8F18-4571-A424-4D41715A4B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97A08EF-5B7B-4133-8FCD-098EC80C16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1C017B-9757-4B28-A052-EDB3EE0133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232E621-F2AD-4958-8AC9-235393C932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D1AA8A-91D3-48FF-A186-D2FFF559A6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1DDD90-7E30-469F-889D-6A7FCB3E6C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DCE9F8-2982-4942-B000-4D990E3041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B12BE0-4FF0-4CE9-A5ED-0416C6783F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BA8B64-CB20-4D62-A618-4488FD4F6D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d1674fbdd542a8" /><Relationship Type="http://schemas.openxmlformats.org/officeDocument/2006/relationships/slideLayout" Target="/ppt/slideLayouts/slideLayout1.xml" Id="R234c026176874677" /><Relationship Type="http://schemas.openxmlformats.org/officeDocument/2006/relationships/slideLayout" Target="/ppt/slideLayouts/slideLayout2.xml" Id="Rf5d3ebef893044f8" /><Relationship Type="http://schemas.openxmlformats.org/officeDocument/2006/relationships/slideLayout" Target="/ppt/slideLayouts/slideLayout3.xml" Id="R77229e93a5464b3c" /><Relationship Type="http://schemas.openxmlformats.org/officeDocument/2006/relationships/slideLayout" Target="/ppt/slideLayouts/slideLayout4.xml" Id="Rc487d71e921c41a8" /><Relationship Type="http://schemas.openxmlformats.org/officeDocument/2006/relationships/slideLayout" Target="/ppt/slideLayouts/slideLayout5.xml" Id="R4adb451952ba475e" /><Relationship Type="http://schemas.openxmlformats.org/officeDocument/2006/relationships/slideLayout" Target="/ppt/slideLayouts/slideLayout6.xml" Id="Ra365f81bcf524d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4c026176874677"/>
    <p:sldLayoutId xmlns:r="http://schemas.openxmlformats.org/officeDocument/2006/relationships" id="2147483650" r:id="Rf5d3ebef893044f8"/>
    <p:sldLayoutId xmlns:r="http://schemas.openxmlformats.org/officeDocument/2006/relationships" id="2147483651" r:id="R77229e93a5464b3c"/>
    <p:sldLayoutId xmlns:r="http://schemas.openxmlformats.org/officeDocument/2006/relationships" id="2147483652" r:id="Rc487d71e921c41a8"/>
    <p:sldLayoutId xmlns:r="http://schemas.openxmlformats.org/officeDocument/2006/relationships" id="2147483653" r:id="R4adb451952ba475e"/>
    <p:sldLayoutId xmlns:r="http://schemas.openxmlformats.org/officeDocument/2006/relationships" id="2147483654" r:id="Ra365f81bcf524d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1d9cbacd704bc4" /><Relationship Type="http://schemas.openxmlformats.org/officeDocument/2006/relationships/image" Target="/ppt/media/image.png" Id="R1241f7ddd2f74d5d" /><Relationship Type="http://schemas.openxmlformats.org/officeDocument/2006/relationships/image" Target="/ppt/media/image2.png" Id="Rb98de4aef1384f19" /><Relationship Type="http://schemas.openxmlformats.org/officeDocument/2006/relationships/notesSlide" Target="/ppt/notesSlides/notesSlide1.xml" Id="R7e62f755548542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5fc531ca2e49a0" /><Relationship Type="http://schemas.openxmlformats.org/officeDocument/2006/relationships/notesSlide" Target="/ppt/notesSlides/notesSlide2.xml" Id="R782e2de44e7d4d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d03163f84346c3" /><Relationship Type="http://schemas.openxmlformats.org/officeDocument/2006/relationships/notesSlide" Target="/ppt/notesSlides/notesSlide3.xml" Id="R95ff3a5f1bb140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e1525663854cdc" /><Relationship Type="http://schemas.openxmlformats.org/officeDocument/2006/relationships/image" Target="/ppt/media/image3.png" Id="R4d149f00a61f4a31" /><Relationship Type="http://schemas.openxmlformats.org/officeDocument/2006/relationships/notesSlide" Target="/ppt/notesSlides/notesSlide4.xml" Id="R41400112566b4a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71bc444ffa4aaf" /><Relationship Type="http://schemas.openxmlformats.org/officeDocument/2006/relationships/image" Target="/ppt/media/image4.png" Id="R424cbf1e9a3a4fe8" /><Relationship Type="http://schemas.openxmlformats.org/officeDocument/2006/relationships/notesSlide" Target="/ppt/notesSlides/notesSlide5.xml" Id="R22dc7ea3aaca44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98f008a4848cd" /><Relationship Type="http://schemas.openxmlformats.org/officeDocument/2006/relationships/image" Target="/ppt/media/image5.png" Id="Rf03020d5b91c42ac" /><Relationship Type="http://schemas.openxmlformats.org/officeDocument/2006/relationships/notesSlide" Target="/ppt/notesSlides/notesSlide6.xml" Id="R8ffdf82d30b740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f505158b154162" /><Relationship Type="http://schemas.openxmlformats.org/officeDocument/2006/relationships/image" Target="/ppt/media/image6.png" Id="R2d044ce5a715420e" /><Relationship Type="http://schemas.openxmlformats.org/officeDocument/2006/relationships/notesSlide" Target="/ppt/notesSlides/notesSlide7.xml" Id="R48fbb4efb9b043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909a335da24dff" /><Relationship Type="http://schemas.openxmlformats.org/officeDocument/2006/relationships/image" Target="/ppt/media/image7.png" Id="Reb0c3c087e7c470b" /><Relationship Type="http://schemas.openxmlformats.org/officeDocument/2006/relationships/notesSlide" Target="/ppt/notesSlides/notesSlide8.xml" Id="R943b6f5e82e84c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e16298698e472e" /><Relationship Type="http://schemas.openxmlformats.org/officeDocument/2006/relationships/image" Target="/ppt/media/image8.png" Id="Rb405efbd9f644b0b" /><Relationship Type="http://schemas.openxmlformats.org/officeDocument/2006/relationships/notesSlide" Target="/ppt/notesSlides/notesSlide9.xml" Id="R49df0edba8e04a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1c45c00e224ce3" /><Relationship Type="http://schemas.openxmlformats.org/officeDocument/2006/relationships/image" Target="/ppt/media/image9.png" Id="R7e784b5b4fdf46bd" /><Relationship Type="http://schemas.openxmlformats.org/officeDocument/2006/relationships/notesSlide" Target="/ppt/notesSlides/notesSlide10.xml" Id="Rffba9805a64741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71955360bf4f87" /><Relationship Type="http://schemas.openxmlformats.org/officeDocument/2006/relationships/image" Target="/ppt/media/image10.png" Id="R92d86a6e62674c4a" /><Relationship Type="http://schemas.openxmlformats.org/officeDocument/2006/relationships/notesSlide" Target="/ppt/notesSlides/notesSlide11.xml" Id="R116b87d07b1744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e9aa498764fb6" /><Relationship Type="http://schemas.openxmlformats.org/officeDocument/2006/relationships/image" Target="/ppt/media/image11.png" Id="Rc3a314c3d1f74881" /><Relationship Type="http://schemas.openxmlformats.org/officeDocument/2006/relationships/notesSlide" Target="/ppt/notesSlides/notesSlide12.xml" Id="R39a78275091f49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40ac8bcdf44ebb" /><Relationship Type="http://schemas.openxmlformats.org/officeDocument/2006/relationships/notesSlide" Target="/ppt/notesSlides/notesSlide13.xml" Id="R2bbaf602954049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4fe29741274565" /><Relationship Type="http://schemas.openxmlformats.org/officeDocument/2006/relationships/notesSlide" Target="/ppt/notesSlides/notesSlide14.xml" Id="R7285631d0ff943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5e91b825ed47c1" /><Relationship Type="http://schemas.openxmlformats.org/officeDocument/2006/relationships/notesSlide" Target="/ppt/notesSlides/notesSlide15.xml" Id="R189c1a749b604c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20b11693f24771" /><Relationship Type="http://schemas.openxmlformats.org/officeDocument/2006/relationships/notesSlide" Target="/ppt/notesSlides/notesSlide16.xml" Id="R0885c964bea84c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f0e07ff13d4cda" /><Relationship Type="http://schemas.openxmlformats.org/officeDocument/2006/relationships/notesSlide" Target="/ppt/notesSlides/notesSlide17.xml" Id="R795a703ec9704bf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35fbc6cc734123" /><Relationship Type="http://schemas.openxmlformats.org/officeDocument/2006/relationships/notesSlide" Target="/ppt/notesSlides/notesSlide18.xml" Id="R8bda73a8c12c45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1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1B360-7D54-452B-BA69-A4E32441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BAA19-EEB8-4902-8779-7467576A2A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1f7ddd2f74d5d"/>
          <a:stretch xmlns:a="http://schemas.openxmlformats.org/drawingml/2006/main"/>
        </p:blipFill>
        <p:spPr>
          <a:xfrm xmlns:a="http://schemas.openxmlformats.org/drawingml/2006/main">
            <a:off x="5905500" y="2114880"/>
            <a:ext cx="5753100" cy="3237839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E99E1-7169-4668-BED9-5AA310C9E7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de4aef1384f19"/>
          <a:stretch xmlns:a="http://schemas.openxmlformats.org/drawingml/2006/main"/>
        </p:blipFill>
        <p:spPr>
          <a:xfrm xmlns:a="http://schemas.openxmlformats.org/drawingml/2006/main">
            <a:off x="495300" y="363384"/>
            <a:ext cx="4095750" cy="128300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6537C-A84A-4540-BA8F-66971120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905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Gestão da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Academia Movimento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C7866-04E2-4BEB-ABD9-27EF9BC9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4905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O atendimento e o estoque</a:t>
            </a:r>
          </a:p>
          <a:p xmlns:a="http://schemas.openxmlformats.org/drawingml/2006/main">
            <a:pPr>
              <a:defRPr sz="2250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em um só sistema.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00836-883F-4A0F-AC21-0F5ECCAB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Grupo 05</a:t>
            </a:r>
          </a:p>
        </p:txBody>
      </p:sp>
    </p:spTree>
    <p:extLst>
      <p:ext uri="{BB962C8B-B14F-4D97-AF65-F5344CB8AC3E}">
        <p14:creationId xmlns:p14="http://schemas.microsoft.com/office/powerpoint/2010/main" val="2115031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73048-61FE-4307-B629-6AB7B287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O atendimento da academia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C5C9B-7660-49E4-92F3-E472CA4D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3E11B-9927-4BE8-B13A-23F339EC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Cliente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AA592-B11B-4C3C-9914-31DEE51C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Academia Movimento, uma academia fictícia que precisa organizar suas operações.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6153A-BB81-46D1-A3AE-369F0D22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Necessidade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54EEF-78A6-45F5-8CE6-3B280C79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Consultar o aluno e sua contratação durante o atendimento.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63A13-C3E7-42F9-B3E6-B67C6BB5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Problema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BDD55-9BED-4D65-BCEE-EE0C3A00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Cadastros e controles separados dificultam a consulta e o acompanhamento.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EB8D8-A6D4-427C-A643-5A692345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Proposta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66B80-D3CF-449F-BBA4-A97DB0E4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Reunir essas informações e registrar cada entrada e saída de estoque.</a:t>
            </a:r>
          </a:p>
        </p:txBody>
      </p:sp>
    </p:spTree>
    <p:extLst>
      <p:ext uri="{BB962C8B-B14F-4D97-AF65-F5344CB8AC3E}">
        <p14:creationId xmlns:p14="http://schemas.microsoft.com/office/powerpoint/2010/main" val="4073477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B336E-B922-4917-A6F3-9C20624C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Escopo e regras do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46A3C-79C3-42D1-B9C7-3E309C6E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F523C-D3F3-4ACE-8909-5F4CD9F1174A}"/>
              </a:ext>
            </a:extLst>
          </p:cNvPr>
          <p:cNvGraphicFramePr/>
          <p:nvPr/>
        </p:nvGraphicFramePr>
        <p:xfrm>
          <a:off xmlns:a="http://schemas.openxmlformats.org/drawingml/2006/main" x="552450" y="1457325"/>
          <a:ext xmlns:a="http://schemas.openxmlformats.org/drawingml/2006/main" cx="110871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86050"/>
                <a:gridCol w="8401050"/>
              </a:tblGrid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Operação</a:t>
                      </a:r>
                    </a:p>
                  </a:txBody>
                  <a:tcPr marL="91440" marR="91440" marT="45720" marB="45720">
                    <a:solidFill>
                      <a:srgbClr val="0F111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Regra adotada</a:t>
                      </a:r>
                    </a:p>
                  </a:txBody>
                  <a:tcPr marL="91440" marR="91440" marT="45720" marB="45720">
                    <a:solidFill>
                      <a:srgbClr val="0F1114"/>
                    </a:solidFill>
                  </a:tcPr>
                </a:tc>
              </a:tr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Alunos</a:t>
                      </a:r>
                    </a:p>
                  </a:txBody>
                  <a:tcPr marL="91440" marR="91440" marT="45720" marB="45720">
                    <a:solidFill>
                      <a:srgbClr val="1C202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CPF válido e único</a:t>
                      </a:r>
                    </a:p>
                  </a:txBody>
                  <a:tcPr marL="91440" marR="91440" marT="45720" marB="45720">
                    <a:solidFill>
                      <a:srgbClr val="1C2027"/>
                    </a:solidFill>
                  </a:tcPr>
                </a:tc>
              </a:tr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Matrículas</a:t>
                      </a:r>
                    </a:p>
                  </a:txBody>
                  <a:tcPr marL="91440" marR="91440" marT="45720" marB="45720">
                    <a:solidFill>
                      <a:srgbClr val="171B21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Uma contratação aberta por aluno e plano</a:t>
                      </a:r>
                    </a:p>
                  </a:txBody>
                  <a:tcPr marL="91440" marR="91440" marT="45720" marB="45720">
                    <a:solidFill>
                      <a:srgbClr val="171B21"/>
                    </a:solidFill>
                  </a:tcPr>
                </a:tc>
              </a:tr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Pagamento</a:t>
                      </a:r>
                    </a:p>
                  </a:txBody>
                  <a:tcPr marL="91440" marR="91440" marT="45720" marB="45720">
                    <a:solidFill>
                      <a:srgbClr val="1C202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Um registro para o valor total contratado</a:t>
                      </a:r>
                    </a:p>
                  </a:txBody>
                  <a:tcPr marL="91440" marR="91440" marT="45720" marB="45720">
                    <a:solidFill>
                      <a:srgbClr val="1C2027"/>
                    </a:solidFill>
                  </a:tcPr>
                </a:tc>
              </a:tr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Estoque</a:t>
                      </a:r>
                    </a:p>
                  </a:txBody>
                  <a:tcPr marL="91440" marR="91440" marT="45720" marB="45720">
                    <a:solidFill>
                      <a:srgbClr val="171B21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Saída limitada ao saldo disponível</a:t>
                      </a:r>
                    </a:p>
                  </a:txBody>
                  <a:tcPr marL="91440" marR="91440" marT="45720" marB="45720">
                    <a:solidFill>
                      <a:srgbClr val="171B21"/>
                    </a:solidFill>
                  </a:tcPr>
                </a:tc>
              </a:tr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Acesso</a:t>
                      </a:r>
                    </a:p>
                  </a:txBody>
                  <a:tcPr marL="91440" marR="91440" marT="45720" marB="45720">
                    <a:solidFill>
                      <a:srgbClr val="1C202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Permissões por perfil de usuário</a:t>
                      </a:r>
                    </a:p>
                  </a:txBody>
                  <a:tcPr marL="91440" marR="91440" marT="45720" marB="45720">
                    <a:solidFill>
                      <a:srgbClr val="1C202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57770-15BF-42AD-9457-C44B6B83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07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Dados guardados em banco relacional local</a:t>
            </a:r>
          </a:p>
        </p:txBody>
      </p:sp>
    </p:spTree>
    <p:extLst>
      <p:ext uri="{BB962C8B-B14F-4D97-AF65-F5344CB8AC3E}">
        <p14:creationId xmlns:p14="http://schemas.microsoft.com/office/powerpoint/2010/main" val="14325558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3B0CE-F4BF-4989-AFB4-75F3AF9C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Acesso ao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DD5F9-2EBF-497A-929B-840B08A4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B8805-76CE-454F-A9B5-D60221A7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3C6A0-09D4-4FEC-9851-15B4927F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Administrador e equipe da recepção.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F3D7C-974B-4CD8-81FD-8F88CF35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O que informa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A9DEF-A34C-4DF9-9E93-B38BB8AD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Usuário e senha de uma conta ativa.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F5904-3B47-4571-B05F-3795C536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O que acontece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60E9B-46F5-4AB2-8290-EE7C4D55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O perfil define as ações disponíveis nas outras telas.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609B0-02F6-48A6-9C9B-C76690A4BC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49f00a61f4a31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08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FD89A-4FE8-41A5-8AE7-4FAB7144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Visão geral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BC115-4CE0-456D-A3DF-A48CA05B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62897-2804-4E48-B4F3-1646FBF4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9E9B8-1325-4783-859E-4E7C2C5D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Equipe da academia.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FA893-B80B-4C97-93B8-5559E9DD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O que mostra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4747C-81A8-42F7-9A18-EE6E8DAF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Alunos, matrículas, pagamentos pendentes e reposição.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C14C7-DA8C-43A2-9BAD-FFA4DD64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Como ajuda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D812E-E66A-403D-8A62-622911FD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O alerta leva à consulta dos produtos e do estoque.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F73A0-EB8E-4851-A179-579B5D9510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cbf1e9a3a4fe8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650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A4CEB-9526-40D3-A46B-4F413A93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Cadastro e consulta de alunos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6444F-7813-4932-9F21-AA4BDC29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3A887-FBCD-4F75-AE32-076D99BE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7B216-632D-42A6-9DC7-1FCED853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Administrador e recepção.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38CAE-33D2-4482-95A4-DE471B2F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O que guarda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6F9B0-91B2-459F-AE93-D86CB96E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Nome, CPF, telefone, e-mail e situação do cadastro.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18A06-D652-4C09-B649-9D237B54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O que permite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1D34F-0837-4ACA-AFD0-64380DE3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Buscar, cadastrar e editar. O aluno é vinculado à matrícula.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F10B7-F9ED-4C19-9563-C617495062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020d5b91c42ac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826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696A4-ACDF-47B9-A4E0-F7DCEDE2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Modalidades oferecidas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D0C1E-E340-424D-B071-9EDC04E3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763B8-3CA2-4617-8577-0DCDA65F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30C7E-A02C-4C8E-B234-E75567F6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Equipe consulta. O administrador altera.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DCA60-0F0C-49C7-9C58-9519FC71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O que guarda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96B9D-1650-42AB-A4F4-1E035121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Nome e descrição da atividade.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162ED-50CC-4739-AFAC-D63FD224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Relação com planos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C0B2D-E1EA-4FD7-A902-C547FD15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Cada plano usa uma modalidade cadastrada.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8725D-8BBE-40CE-8E73-E22FCF75AC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44ce5a715420e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735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F1E26-7D30-4C9E-A6F1-DB37D667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Planos da academia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8B71B-98C5-4E95-905C-11335888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57538-01D4-4705-AE99-31DD46D1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27438-AD97-4481-BE05-E5CACC54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Equipe consulta. O administrador configura.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3DF5C-4CB4-4EE4-B512-5619428D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O que 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AAAAB-EC11-458C-8388-1F91DBD4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Modalidade, duração em meses e valor total.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76D76-298C-4B97-9A24-B04A9F8F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Na contratação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7D1C7-4667-4BB0-9C4B-AE75F46B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A matrícula copia o valor e calcula a validade.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DF3C0-D1D9-45F9-8D29-673B5D1266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c3c087e7c470b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8810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9B2BE-56B4-4D38-A65E-18806B0A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Matrículas e pagamentos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093F9-A4C5-4535-800A-EA120008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CFCBF-0E41-4A8C-A199-F7AAA343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781F6-2C31-49B9-B9BD-3EA05A3C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Administrador e recepção.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3F40A-BD14-4579-BEA1-48AF3ADC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O que registra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1D84C-5DCB-4676-B5E2-79470770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Aluno, plano, datas, valor e situação.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D3120-2F39-4CCB-9D16-99CEDC9F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O que permite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E9955-8B6C-4F20-88B0-BF1D20DE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Contratar, alterar situação, pagar e consultar histórico.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98D16-CE64-4DE5-AD70-73E08189C3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5efbd9f644b0b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4195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FB8E9-C6A9-432A-A011-4B0162FE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Produtos e saldo disponível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6E239-C309-4D99-A15E-CE6FAE2D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29E5B-FA30-4B4F-9745-A51FE629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AFBA1-44D6-4183-A835-EADFF06B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Equipe consulta e movimenta. Administrador cadastra.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97608-BFB7-471B-8014-F3F17329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O que apresenta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11A43-ED32-4EA5-A888-A81456E2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Produto, unidade, preço, saldo e mínimo.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B480B-26F0-4FF4-B8A2-1B99D869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Alerta de reposição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69E06-EA76-4DE9-B8DE-222812DD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REPOR aparece quando saldo chega ao mínimo ou fica abaixo.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EF42F-486D-4306-A45D-FE0EC0A32F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84b5b4fdf46bd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416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FB1AF-AC36-4B9D-8F64-2AAF33EA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Histórico de movimentações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069C1-AF46-44AC-9D35-2BC75753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B3C16-EA6A-4606-816D-2909C95D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1062C-D8C7-4F17-AD18-357C3A98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Administrador e recepção.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A511F-AF69-4A2E-89A1-A8E40201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O que registra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A78A3-5FD9-4175-BA33-00D13AF0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Produto, tipo, quantidade, motivo, data e responsável.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D47FC-6B5F-4FBC-BE2A-386B2C5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Como controla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0D43D-75AE-47E5-AFC8-CEA69D51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Cada entrada ou saída atualiza o saldo na mesma transação.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45EFB-600A-4E48-BAF2-6314289984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86a6e62674c4a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531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7B988-0E39-4666-839C-0AB0123B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Usuários e permissões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FD12E-F0FB-4C13-A273-ACD3F1B8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D8D9D-F3DE-4E92-BC9A-5BDD9176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7D940-B1F2-4A44-B716-BC31822F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Apenas o administrador.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C5927-9E79-42AE-96D4-D9EF86D5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O que 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ED211-5DC0-4BE8-AE2B-E36770EE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Login, senha, perfil e conta ativa.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C6494-A5E7-4ED7-A6CD-9B8B5B3B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No atendimento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C1AF7-B5F0-4FC2-AA0C-02809635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O atendente opera alunos, contratos e movimentações.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D7DB2-4C19-44E1-9C4A-9C9E326F2C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314c3d1f74881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397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C4A17-32D9-460C-811A-93ABBA5F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Estrutura do banco de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299D5-9C6E-4486-8C8F-900E0931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FC384-B30F-4690-A208-2244F7DEBD57}"/>
              </a:ext>
            </a:extLst>
          </p:cNvPr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871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67125"/>
                <a:gridCol w="7419975"/>
              </a:tblGrid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Relacionamento</a:t>
                      </a:r>
                    </a:p>
                  </a:txBody>
                  <a:tcPr marL="91440" marR="91440" marT="45720" marB="45720">
                    <a:solidFill>
                      <a:srgbClr val="0F111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Como os dados se conectam</a:t>
                      </a:r>
                    </a:p>
                  </a:txBody>
                  <a:tcPr marL="91440" marR="91440" marT="45720" marB="45720">
                    <a:solidFill>
                      <a:srgbClr val="0F1114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Aluno e matrícula</a:t>
                      </a:r>
                    </a:p>
                  </a:txBody>
                  <a:tcPr marL="91440" marR="91440" marT="45720" marB="45720">
                    <a:solidFill>
                      <a:srgbClr val="1C202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Um aluno pode ter várias matrículas</a:t>
                      </a:r>
                    </a:p>
                  </a:txBody>
                  <a:tcPr marL="91440" marR="91440" marT="45720" marB="45720">
                    <a:solidFill>
                      <a:srgbClr val="1C2027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Modalidade e plano</a:t>
                      </a:r>
                    </a:p>
                  </a:txBody>
                  <a:tcPr marL="91440" marR="91440" marT="45720" marB="45720">
                    <a:solidFill>
                      <a:srgbClr val="171B21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Uma modalidade pode ter vários planos</a:t>
                      </a:r>
                    </a:p>
                  </a:txBody>
                  <a:tcPr marL="91440" marR="91440" marT="45720" marB="45720">
                    <a:solidFill>
                      <a:srgbClr val="171B21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Plano e matrícula</a:t>
                      </a:r>
                    </a:p>
                  </a:txBody>
                  <a:tcPr marL="91440" marR="91440" marT="45720" marB="45720">
                    <a:solidFill>
                      <a:srgbClr val="1C202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Um plano pode ser contratado por vários alunos</a:t>
                      </a:r>
                    </a:p>
                  </a:txBody>
                  <a:tcPr marL="91440" marR="91440" marT="45720" marB="45720">
                    <a:solidFill>
                      <a:srgbClr val="1C2027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Matrícula e histórico</a:t>
                      </a:r>
                    </a:p>
                  </a:txBody>
                  <a:tcPr marL="91440" marR="91440" marT="45720" marB="45720">
                    <a:solidFill>
                      <a:srgbClr val="171B21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Cada alteração gera um registro</a:t>
                      </a:r>
                    </a:p>
                  </a:txBody>
                  <a:tcPr marL="91440" marR="91440" marT="45720" marB="45720">
                    <a:solidFill>
                      <a:srgbClr val="171B21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Matrícula e pagamento</a:t>
                      </a:r>
                    </a:p>
                  </a:txBody>
                  <a:tcPr marL="91440" marR="91440" marT="45720" marB="45720">
                    <a:solidFill>
                      <a:srgbClr val="1C202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Zero ou um pagamento por contratação</a:t>
                      </a:r>
                    </a:p>
                  </a:txBody>
                  <a:tcPr marL="91440" marR="91440" marT="45720" marB="45720">
                    <a:solidFill>
                      <a:srgbClr val="1C2027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Produto e movimento</a:t>
                      </a:r>
                    </a:p>
                  </a:txBody>
                  <a:tcPr marL="91440" marR="91440" marT="45720" marB="45720">
                    <a:solidFill>
                      <a:srgbClr val="171B21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Cada entrada ou saída pertence a um produto</a:t>
                      </a:r>
                    </a:p>
                  </a:txBody>
                  <a:tcPr marL="91440" marR="91440" marT="45720" marB="45720">
                    <a:solidFill>
                      <a:srgbClr val="171B21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85EB7-BB69-40FD-AF21-C2FB17FC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Usuários identificam quem registrou cada operação</a:t>
            </a:r>
          </a:p>
        </p:txBody>
      </p:sp>
    </p:spTree>
    <p:extLst>
      <p:ext uri="{BB962C8B-B14F-4D97-AF65-F5344CB8AC3E}">
        <p14:creationId xmlns:p14="http://schemas.microsoft.com/office/powerpoint/2010/main" val="9127010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74748-700F-4DE5-A76F-7056F558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Tecnologias e organização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8909E-BF4B-47EF-9463-0CD6E615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FC3B6-EFDF-4262-B2FB-FBF04B28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Java e Swing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E58ED-FC07-4874-AE43-4876E4C8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Interface desktop com tabelas, formulários e navegação entre telas.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B6068-A43E-4DA2-80FF-14131196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JDBC e H2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8D45C-F02D-459E-B648-08BDD781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Consultas parametrizadas e banco relacional salvo no computador.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7A3C4-33F6-4E73-B30F-0A577F78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IntelliJ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DB057-4F3C-4185-9317-D07A6225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Projeto organizado e biblioteca local para executar a demonstração.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B883A-7C44-47E2-8D94-C40D41DF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Separação do código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E593B-26EB-442A-9944-32C06DDD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A tela chama o serviço. O serviço valida e acessa o banco.</a:t>
            </a:r>
          </a:p>
        </p:txBody>
      </p:sp>
    </p:spTree>
    <p:extLst>
      <p:ext uri="{BB962C8B-B14F-4D97-AF65-F5344CB8AC3E}">
        <p14:creationId xmlns:p14="http://schemas.microsoft.com/office/powerpoint/2010/main" val="9815022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D4BB5-E3A8-4B59-BE7C-646CB607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Cuidados de implementação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99EBA-A4EA-46E5-BCC2-D1EF9C2B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97EAD-ACD2-4B07-924B-CD5427D41827}"/>
              </a:ext>
            </a:extLst>
          </p:cNvPr>
          <p:cNvGraphicFramePr/>
          <p:nvPr/>
        </p:nvGraphicFramePr>
        <p:xfrm>
          <a:off xmlns:a="http://schemas.openxmlformats.org/drawingml/2006/main" x="552450" y="1524000"/>
          <a:ext xmlns:a="http://schemas.openxmlformats.org/drawingml/2006/main" cx="110871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09950"/>
                <a:gridCol w="7677150"/>
              </a:tblGrid>
              <a:tr h="708660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Ponto de atenção</a:t>
                      </a:r>
                    </a:p>
                  </a:txBody>
                  <a:tcPr marL="91440" marR="91440" marT="45720" marB="45720">
                    <a:solidFill>
                      <a:srgbClr val="0F111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Decisão no sistema</a:t>
                      </a:r>
                    </a:p>
                  </a:txBody>
                  <a:tcPr marL="91440" marR="91440" marT="45720" marB="45720">
                    <a:solidFill>
                      <a:srgbClr val="0F1114"/>
                    </a:solidFill>
                  </a:tcPr>
                </a:tc>
              </a:tr>
              <a:tr h="70866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Saldo de estoque</a:t>
                      </a:r>
                    </a:p>
                  </a:txBody>
                  <a:tcPr marL="91440" marR="91440" marT="45720" marB="45720">
                    <a:solidFill>
                      <a:srgbClr val="1C202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Atualizar saldo e histórico na mesma transação</a:t>
                      </a:r>
                    </a:p>
                  </a:txBody>
                  <a:tcPr marL="91440" marR="91440" marT="45720" marB="45720">
                    <a:solidFill>
                      <a:srgbClr val="1C2027"/>
                    </a:solidFill>
                  </a:tcPr>
                </a:tc>
              </a:tr>
              <a:tr h="70866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Duplicidade de matrícula</a:t>
                      </a:r>
                    </a:p>
                  </a:txBody>
                  <a:tcPr marL="91440" marR="91440" marT="45720" marB="45720">
                    <a:solidFill>
                      <a:srgbClr val="171B21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Conferir contratos abertos antes de gravar</a:t>
                      </a:r>
                    </a:p>
                  </a:txBody>
                  <a:tcPr marL="91440" marR="91440" marT="45720" marB="45720">
                    <a:solidFill>
                      <a:srgbClr val="171B21"/>
                    </a:solidFill>
                  </a:tcPr>
                </a:tc>
              </a:tr>
              <a:tr h="70866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Mudança do preço</a:t>
                      </a:r>
                    </a:p>
                  </a:txBody>
                  <a:tcPr marL="91440" marR="91440" marT="45720" marB="45720">
                    <a:solidFill>
                      <a:srgbClr val="1C202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Manter o valor original na contratação</a:t>
                      </a:r>
                    </a:p>
                  </a:txBody>
                  <a:tcPr marL="91440" marR="91440" marT="45720" marB="45720">
                    <a:solidFill>
                      <a:srgbClr val="1C2027"/>
                    </a:solidFill>
                  </a:tcPr>
                </a:tc>
              </a:tr>
              <a:tr h="70866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Acesso da equipe</a:t>
                      </a:r>
                    </a:p>
                  </a:txBody>
                  <a:tcPr marL="91440" marR="91440" marT="45720" marB="45720">
                    <a:solidFill>
                      <a:srgbClr val="171B21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F2F3F5"/>
                          </a:solidFill>
                          <a:latin typeface="Calibri"/>
                          <a:ea typeface="Calibri"/>
                          <a:cs typeface="Calibri"/>
                        </a:rPr>
                        <a:t>Conferir senha e permissão no serviço</a:t>
                      </a:r>
                    </a:p>
                  </a:txBody>
                  <a:tcPr marL="91440" marR="91440" marT="45720" marB="45720">
                    <a:solidFill>
                      <a:srgbClr val="171B21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773B9-24C3-4F9C-9446-9B485E24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Essas regras também entram nos testes</a:t>
            </a:r>
          </a:p>
        </p:txBody>
      </p:sp>
    </p:spTree>
    <p:extLst>
      <p:ext uri="{BB962C8B-B14F-4D97-AF65-F5344CB8AC3E}">
        <p14:creationId xmlns:p14="http://schemas.microsoft.com/office/powerpoint/2010/main" val="10325069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8B2DA-027F-4F96-A372-0F574879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Testes e 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80836-D9EA-4AE0-AA0E-6009E3C0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2D585-1F7B-4475-971E-FE35BF5A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0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0500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10500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EF4C8-8B2D-4862-9CF9-98631B81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verificações passaram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AF380-3739-4438-A3B0-6EEE08B5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Regras do serviço e integração com o banco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63E20-D9C3-4158-8418-7137CC5F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14475"/>
            <a:ext cx="5238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Acesso e permissões</a:t>
            </a:r>
          </a:p>
          <a:p xmlns:a="http://schemas.openxmlformats.org/drawingml/2006/main">
            <a:pPr>
              <a:defRPr sz="217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Cadastros e duplicidades</a:t>
            </a:r>
          </a:p>
          <a:p xmlns:a="http://schemas.openxmlformats.org/drawingml/2006/main">
            <a:pPr>
              <a:defRPr sz="217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Situação e pagamento</a:t>
            </a:r>
          </a:p>
          <a:p xmlns:a="http://schemas.openxmlformats.org/drawingml/2006/main">
            <a:pPr>
              <a:defRPr sz="217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Saldo e histórico</a:t>
            </a:r>
          </a:p>
          <a:p xmlns:a="http://schemas.openxmlformats.org/drawingml/2006/main">
            <a:pPr>
              <a:defRPr sz="217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Concorrência e rollback</a:t>
            </a:r>
          </a:p>
          <a:p xmlns:a="http://schemas.openxmlformats.org/drawingml/2006/main">
            <a:pPr>
              <a:defRPr sz="217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Persistência após reabrir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BCB5F-587C-4591-B516-D1060AAA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O roteiro manual orienta o ensaio no aplicativo</a:t>
            </a:r>
          </a:p>
        </p:txBody>
      </p:sp>
    </p:spTree>
    <p:extLst>
      <p:ext uri="{BB962C8B-B14F-4D97-AF65-F5344CB8AC3E}">
        <p14:creationId xmlns:p14="http://schemas.microsoft.com/office/powerpoint/2010/main" val="16332227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4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AB80F-E3A0-4AA9-B43A-821DCD68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Demonstração do atendimento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4C0F2-D0FA-47A5-81F5-4A9F6D55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65172-3462-4E80-B984-18A00AD4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AD6E8-672F-430D-AA6B-AB16AD23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6687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Entrar e consultar um aluno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2F2A7-577D-4BAB-B10B-F8E4EB73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622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9AC8E-4D1C-4C35-A076-543311EC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479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Registrar matrícula e pagamento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68B66-CBE5-49B8-BA96-CE33959C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32FF0-BFEE-496A-B8A4-59B5D8B0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2902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Alterar situação e conferir histórico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54916-D9E7-4797-94CE-9C188912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59211-88AF-429E-A552-A6152C26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101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Movimentar estoque e testar o limite do saldo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BB7C7-256C-46FC-B3F1-1264B1D6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Fluxo completo no aplicativo aberto</a:t>
            </a:r>
          </a:p>
        </p:txBody>
      </p:sp>
    </p:spTree>
    <p:extLst>
      <p:ext uri="{BB962C8B-B14F-4D97-AF65-F5344CB8AC3E}">
        <p14:creationId xmlns:p14="http://schemas.microsoft.com/office/powerpoint/2010/main" val="13362030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4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74F7A-C5BF-4DB0-8B99-D161FBA2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Entrega e próximos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E147F-614D-4827-A607-E2E042DC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DA4B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9DA4B0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9E6A2-8676-435C-B4A4-55FB343C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Nesta versão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40C7F-3009-4C28-80C5-13A828FD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Cadastro de alunos, contratação de planos e controle de estoque com histórico.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96CC2-6397-4D4F-9B31-B1B7599C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Acompanhamento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077E0-CAC6-4203-9510-AF93ED1E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Situação, pagamento da contratação e alertas de reposição.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C879F-C4B2-4073-83CE-00FFD6EC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Limites do escopo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EE405-002A-4913-A1FC-D68C878C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Execução local, pagamento único por contrato e conferência manual de validade.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D51C0-AAEC-43F0-9298-7AC446F8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8B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8B63"/>
                </a:solidFill>
                <a:latin typeface="Calibri"/>
                <a:ea typeface="Calibri"/>
                <a:cs typeface="Calibri"/>
              </a:rPr>
              <a:t>Possíveis evoluções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E6766-59E0-4DCA-B523-29A30069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2F3F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2F3F5"/>
                </a:solidFill>
                <a:latin typeface="Calibri"/>
                <a:ea typeface="Calibri"/>
                <a:cs typeface="Calibri"/>
              </a:rPr>
              <a:t>Cobranças recorrentes, backup automático e integração com a catraca.</a:t>
            </a:r>
          </a:p>
        </p:txBody>
      </p:sp>
    </p:spTree>
    <p:extLst>
      <p:ext uri="{BB962C8B-B14F-4D97-AF65-F5344CB8AC3E}">
        <p14:creationId xmlns:p14="http://schemas.microsoft.com/office/powerpoint/2010/main" val="489305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2026-10-09T13:49:15.9770000Z</dcterms:created>
  <dcterms:modified xsi:type="dcterms:W3CDTF">2026-10-09T13:49:15.9770000Z</dcterms:modified>
</coreProperties>
</file>